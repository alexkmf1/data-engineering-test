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Risk score</c:v>
          </c:tx>
          <c:spPr>
            <a:solidFill>
              <a:srgbClr val="FF5A1F"/>
            </a:solidFill>
            <a:ln w="0">
              <a:solidFill>
                <a:srgbClr val="FF5A1F"/>
              </a:solidFill>
              <a:prstDash val="solid"/>
            </a:ln>
          </c:spPr>
          <c:invertIfNegative val="1"/>
          <c:dLbls>
            <c:spPr>
              <a:noFill/>
              <a:ln>
                <a:noFill/>
              </a:ln>
            </c:spPr>
            <c:txPr>
              <a:bodyPr anchorCtr="1"/>
              <a:lstStyle/>
              <a:p>
                <a:pPr>
                  <a:defRPr sz="900" b="1">
                    <a:solidFill>
                      <a:srgbClr val="FFFFFF"/>
                    </a:solidFill>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Carrier 520</c:v>
              </c:pt>
              <c:pt idx="1">
                <c:v>Carrier 990</c:v>
              </c:pt>
              <c:pt idx="2">
                <c:v>Carrier 1261</c:v>
              </c:pt>
              <c:pt idx="3">
                <c:v>Carrier 8</c:v>
              </c:pt>
              <c:pt idx="4">
                <c:v>Carrier 124</c:v>
              </c:pt>
            </c:strLit>
          </c:cat>
          <c:val>
            <c:numLit>
              <c:formatCode>General</c:formatCode>
              <c:ptCount val="5"/>
              <c:pt idx="0">
                <c:v>47.14</c:v>
              </c:pt>
              <c:pt idx="1">
                <c:v>47.62</c:v>
              </c:pt>
              <c:pt idx="2">
                <c:v>50.24</c:v>
              </c:pt>
              <c:pt idx="3">
                <c:v>53.38</c:v>
              </c:pt>
              <c:pt idx="4">
                <c:v>70</c:v>
              </c:pt>
            </c:numLit>
          </c:val>
          <c:extLst>
            <c:ext xmlns:c14="http://schemas.microsoft.com/office/drawing/2007/8/2/chart" uri="{6F2FDCE9-48DA-4B69-8628-5D25D57E5C99}">
              <c14:invertSolidFillFmt>
                <c14:spPr xmlns:c14="http://schemas.microsoft.com/office/drawing/2007/8/2/chart">
                  <a:solidFill>
                    <a:srgbClr val="FFFFFF"/>
                  </a:solidFill>
                  <a:ln w="0">
                    <a:solidFill>
                      <a:srgbClr val="FF5A1F"/>
                    </a:solidFill>
                    <a:prstDash val="solid"/>
                  </a:ln>
                </c14:spPr>
              </c14:invertSolidFillFmt>
            </c:ext>
            <c:ext xmlns:c16="http://schemas.microsoft.com/office/drawing/2014/chart" uri="{C3380CC4-5D6E-409C-BE32-E72D297353CC}">
              <c16:uniqueId val="{00000000-4C5F-4E50-B0CC-482C7254BA3A}"/>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282828"/>
              </a:solidFill>
              <a:prstDash val="solid"/>
            </a:ln>
          </c:spPr>
        </c:majorGridlines>
        <c:numFmt formatCode="General" sourceLinked="1"/>
        <c:majorTickMark val="none"/>
        <c:minorTickMark val="none"/>
        <c:tickLblPos val="nextTo"/>
        <c:spPr>
          <a:ln w="9525">
            <a:solidFill>
              <a:srgbClr val="282828"/>
            </a:solidFill>
            <a:prstDash val="solid"/>
          </a:ln>
        </c:spPr>
        <c:txPr>
          <a:bodyPr anchorCtr="1"/>
          <a:lstStyle/>
          <a:p>
            <a:pPr>
              <a:defRPr sz="975">
                <a:solidFill>
                  <a:srgbClr val="B4B4B4"/>
                </a:solidFill>
              </a:defRPr>
            </a:pPr>
            <a:endParaRPr lang="pt-BR"/>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282828"/>
            </a:solidFill>
            <a:prstDash val="solid"/>
          </a:ln>
        </c:spPr>
        <c:txPr>
          <a:bodyPr anchorCtr="1"/>
          <a:lstStyle/>
          <a:p>
            <a:pPr>
              <a:defRPr sz="975">
                <a:solidFill>
                  <a:srgbClr val="B4B4B4"/>
                </a:solidFill>
              </a:defRPr>
            </a:pPr>
            <a:endParaRPr lang="pt-BR"/>
          </a:p>
        </c:txPr>
        <c:crossAx val="48650112"/>
        <c:crosses val="autoZero"/>
        <c:crossBetween val="between"/>
      </c:valAx>
      <c:spPr>
        <a:solidFill>
          <a:srgbClr val="0A0A0A"/>
        </a:solidFill>
        <a:ln w="9525">
          <a:solidFill>
            <a:srgbClr val="282828"/>
          </a:solidFill>
          <a:prstDash val="solid"/>
        </a:ln>
      </c:spPr>
    </c:plotArea>
    <c:plotVisOnly val="1"/>
    <c:dispBlanksAs val="zero"/>
    <c:showDLblsOverMax val="1"/>
  </c:chart>
  <c:spPr>
    <a:solidFill>
      <a:srgbClr val="0A0A0A"/>
    </a:solidFill>
    <a:ln w="9525">
      <a:solidFill>
        <a:srgbClr val="282828"/>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40 seconds.</a:t>
            </a:r>
          </a:p>
          <a:p>
            <a:endParaRPr/>
          </a:p>
          <a:p>
            <a:r>
              <a:t>Good morning. This project answers one focused business question: which carriers create communication risk because they respond slowly or do not respond at all? I built an end-to-end pipeline that turns the supplied communication, carrier, and broker files into a transparent operational signal. The objective is not to claim that this represents every type of carrier risk. It specifically measures responsiveness risk, based on the stakeholder clarification I received. In the next few minutes, I will show what the pipeline does, why I chose the tools, how the score supports operations, and the limitations I would address before production.</a:t>
            </a:r>
          </a:p>
          <a:p>
            <a:endParaRPr/>
          </a:p>
          <a:p>
            <a:r>
              <a:t>[Sources]</a:t>
            </a:r>
          </a:p>
          <a:p>
            <a:r>
              <a:t>- docs/README_original.md</a:t>
            </a:r>
          </a:p>
          <a:p>
            <a:r>
              <a:t>- README.md</a:t>
            </a:r>
          </a:p>
          <a:p>
            <a:r>
              <a:t>- Stakeholder clarification supplied by the candidate</a:t>
            </a:r>
          </a:p>
          <a:p>
            <a:r>
              <a:t>
- https://freighthero.ai/ (visual identity reference)
-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60 seconds.</a:t>
            </a:r>
          </a:p>
          <a:p>
            <a:endParaRPr/>
          </a:p>
          <a:p>
            <a:r>
              <a:t>The stakeholder clarified the meaning of the metric. Each row is one communication. Outbound means FreightHero sent the message, while inbound means FreightHero received it. The external ID identifies the load, and responses remain within the same channel. The carrier-side contacts of interest are drivers and dispatchers. That gives us two distinct business signals. The first is non-response: how often communication attempts receive no reply. The second is delay: how long the carrier takes to respond when a reply exists. I deliberately describe the result as a responsiveness risk score. It should help operations decide where follow-up is needed, but it should not be interpreted as a complete measure of safety, financial stability, fraud, or delivery performance.</a:t>
            </a:r>
          </a:p>
          <a:p>
            <a:endParaRPr/>
          </a:p>
          <a:p>
            <a:r>
              <a:t>[Sources]</a:t>
            </a:r>
          </a:p>
          <a:p>
            <a:r>
              <a:t>- Stakeholder clarification supplied by the candidate</a:t>
            </a:r>
          </a:p>
          <a:p>
            <a:r>
              <a:t>- docs/system_design.md, Gold Business Logic and Business Assumptions</a:t>
            </a:r>
          </a:p>
          <a:p>
            <a:r>
              <a:t>
- https://freighthero.ai/ (visual identity reference)
-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70 seconds.</a:t>
            </a:r>
          </a:p>
          <a:p>
            <a:endParaRPr/>
          </a:p>
          <a:p>
            <a:r>
              <a:t>The implementation follows a simple Medallion flow. Bronze reads the three supplied formats, validates the expected source columns, preserves the original names, and adds ingestion metadata. Silver creates a canonical schema, corrects the source typo, converts timestamps to UTC, removes deterministic duplicates, and runs the data-quality checks. Gold joins communications with carrier and broker information, identifies relevant outbound and inbound events, and turns them into response cycles. I used Pandas because the assessment volume fits on one machine, and Parquet because it preserves types and supports efficient analytical reads. PostgreSQL provides a standard SQL serving layer, Metabase makes the result accessible to non-technical users, and Docker Compose makes those services reproducible. For larger production workloads, the same responsibilities can move to S3 and AWS Glue.</a:t>
            </a:r>
          </a:p>
          <a:p>
            <a:endParaRPr/>
          </a:p>
          <a:p>
            <a:r>
              <a:t>[Sources]</a:t>
            </a:r>
          </a:p>
          <a:p>
            <a:r>
              <a:t>- src/bronze/ingestion.ipynb</a:t>
            </a:r>
          </a:p>
          <a:p>
            <a:r>
              <a:t>- src/silver/transformation.ipynb</a:t>
            </a:r>
          </a:p>
          <a:p>
            <a:r>
              <a:t>- src/gold/build.ipynb</a:t>
            </a:r>
          </a:p>
          <a:p>
            <a:r>
              <a:t>- docs/system_design.md</a:t>
            </a:r>
          </a:p>
          <a:p>
            <a:r>
              <a:t>
- https://freighthero.ai/ (visual identity reference)
-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60 seconds.</a:t>
            </a:r>
          </a:p>
          <a:p>
            <a:endParaRPr/>
          </a:p>
          <a:p>
            <a:r>
              <a:t>The tool choices are deliberately fit for the assessment and its current data volume. Pandas keeps the transformations straightforward on one machine, while Parquet preserves data types and gives each Medallion layer a compact analytical format. PostgreSQL provides a familiar SQL serving layer, and Metabase makes the final metrics accessible to operational users without requiring them to work inside the notebooks. Docker Compose starts PostgreSQL and Metabase consistently and preserves their local state through named volumes. This is intentionally a practical local architecture, not the final production design. If volume, scheduling, or governance requirements increase, the same responsibilities can move to managed storage and processing services such as S3 and Glue.</a:t>
            </a:r>
          </a:p>
          <a:p>
            <a:endParaRPr/>
          </a:p>
          <a:p>
            <a:r>
              <a:t>[Sources]</a:t>
            </a:r>
          </a:p>
          <a:p>
            <a:r>
              <a:t>- README.md</a:t>
            </a:r>
          </a:p>
          <a:p>
            <a:r>
              <a:t>- docker-compose.yml</a:t>
            </a:r>
          </a:p>
          <a:p>
            <a:r>
              <a:t>- requirements.txt</a:t>
            </a:r>
          </a:p>
          <a:p>
            <a:r>
              <a:t>- https://freighthero.ai/ (visual identity reference)</a:t>
            </a:r>
          </a:p>
          <a:p>
            <a:r>
              <a:t>-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80 seconds.</a:t>
            </a:r>
          </a:p>
          <a:p>
            <a:endParaRPr/>
          </a:p>
          <a:p>
            <a:r>
              <a:t>The score is intentionally transparent. First, I calculate the response rate for every carrier with at least ten records. The non-response component is one minus that rate. Second, I calculate average response time only where a response exists, convert it to hours, and rank each carrier relative to the other eligible carriers. The slowest carrier approaches one on the delay component and the fastest approaches zero. I currently combine the components with equal weights because the stakeholder confirmed both dimensions but did not specify that one is more important. That weighting is an analytical assumption, not a business-approved rule. If a carrier never responds, the score is set to one hundred because there is no response-time value and zero responses represent maximum responsiveness risk. The final score ranges from zero to one hundred and can be grouped into low, medium, and high risk.</a:t>
            </a:r>
          </a:p>
          <a:p>
            <a:endParaRPr/>
          </a:p>
          <a:p>
            <a:r>
              <a:t>[Sources]</a:t>
            </a:r>
          </a:p>
          <a:p>
            <a:r>
              <a:t>- Stakeholder clarification supplied by the candidate</a:t>
            </a:r>
          </a:p>
          <a:p>
            <a:r>
              <a:t>- Current Metabase risk-score SQL drafted from public.carrier_risk</a:t>
            </a:r>
          </a:p>
          <a:p>
            <a:r>
              <a:t>
- https://freighthero.ai/ (visual identity reference)
-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70 seconds.</a:t>
            </a:r>
          </a:p>
          <a:p>
            <a:endParaRPr/>
          </a:p>
          <a:p>
            <a:r>
              <a:t>This is where the model becomes operational. The score provides one prioritization view, while the component metrics explain why a carrier is risky. Using the current email data and the current formula, Carrier 124 ranks highest among the eligible carriers with a score of seventy. It has ten records, a sixty percent response rate, and an average response time of approximately thirteen point seven four hours. An operations user can begin with the ranking, inspect response rate and response time, and decide whether a carrier needs follow-up or a process review. The existing Metabase dashboard already contains the two diagnostic views. The final score question adds the prioritization layer. Channel filtering should only be enabled after the outbound status and contact semantics for SMS and chat are confirmed and implemented.</a:t>
            </a:r>
          </a:p>
          <a:p>
            <a:endParaRPr/>
          </a:p>
          <a:p>
            <a:r>
              <a:t>[Sources]</a:t>
            </a:r>
          </a:p>
          <a:p>
            <a:r>
              <a:t>- data/gold/carrier_risk/data.parquet</a:t>
            </a:r>
          </a:p>
          <a:p>
            <a:r>
              <a:t>- dashboard/Metabase - Carrier Risk.pdf</a:t>
            </a:r>
          </a:p>
          <a:p>
            <a:r>
              <a:t>- Current Metabase risk-score formula</a:t>
            </a:r>
          </a:p>
          <a:p>
            <a:r>
              <a:t>
- https://freighthero.ai/ (visual identity reference)
-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approximately 70 seconds.</a:t>
            </a:r>
          </a:p>
          <a:p>
            <a:endParaRPr/>
          </a:p>
          <a:p>
            <a:r>
              <a:t>The current solution is deliberately honest about its limits. First, the weighting and thresholds need business approval before the score is treated as a formal policy. Second, the current Gold output is effectively email-only because email uses delivered as the outbound status, while SMS primarily uses sent and chat has different contact semantics. Third, the local pipeline runs through three notebooks in sequence. A production implementation should package the logic as jobs, add orchestration, pipeline-level tests, monitoring, and managed secrets. The proposed AWS direction uses S3, Glue, IAM, and Terraform when scale requires it. The key outcome, however, remains simple: this pipeline turns communication events into an explainable prioritization signal. Operations can see which carriers need attention and understand whether the problem is missing replies, slow replies, or both.</a:t>
            </a:r>
          </a:p>
          <a:p>
            <a:endParaRPr/>
          </a:p>
          <a:p>
            <a:r>
              <a:t>[Sources]</a:t>
            </a:r>
          </a:p>
          <a:p>
            <a:r>
              <a:t>- docs/system_design.md</a:t>
            </a:r>
          </a:p>
          <a:p>
            <a:r>
              <a:t>- README.md</a:t>
            </a:r>
          </a:p>
          <a:p>
            <a:r>
              <a:t>- src/gold/build.ipynb</a:t>
            </a:r>
          </a:p>
          <a:p>
            <a:r>
              <a:t>- data/gold/carrier_risk/data.parquet</a:t>
            </a:r>
          </a:p>
          <a:p>
            <a:r>
              <a:t>
- https://freighthero.ai/ (visual identity reference)
- User-supplied FreightHero logo (visual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7" name="cover-accent-bar">
            <a:extLst>
              <a:ext uri="{FF2B5EF4-FFF2-40B4-BE49-F238E27FC236}">
                <a16:creationId xmlns:a16="http://schemas.microsoft.com/office/drawing/2014/main" id="{B4324B84-B165-4263-B5F5-2084AA78AF67}"/>
              </a:ext>
            </a:extLst>
          </p:cNvPr>
          <p:cNvSpPr>
            <a:spLocks noGrp="1"/>
          </p:cNvSpPr>
          <p:nvPr/>
        </p:nvSpPr>
        <p:spPr>
          <a:xfrm>
            <a:off x="0" y="0"/>
            <a:ext cx="171450" cy="6858000"/>
          </a:xfrm>
          <a:prstGeom prst="rect">
            <a:avLst/>
          </a:prstGeom>
          <a:solidFill>
            <a:srgbClr val="FF5A1F"/>
          </a:solidFill>
          <a:ln w="0">
            <a:solidFill>
              <a:srgbClr val="FF5A1F"/>
            </a:solidFill>
            <a:prstDash val="solid"/>
          </a:ln>
        </p:spPr>
      </p:sp>
      <p:sp>
        <p:nvSpPr>
          <p:cNvPr id="2" name="cover-kicker">
            <a:extLst>
              <a:ext uri="{FF2B5EF4-FFF2-40B4-BE49-F238E27FC236}">
                <a16:creationId xmlns:a16="http://schemas.microsoft.com/office/drawing/2014/main" id="{C20C155C-F5FD-4741-B5BC-92B3639A0577}"/>
              </a:ext>
            </a:extLst>
          </p:cNvPr>
          <p:cNvSpPr>
            <a:spLocks noGrp="1"/>
          </p:cNvSpPr>
          <p:nvPr/>
        </p:nvSpPr>
        <p:spPr>
          <a:xfrm>
            <a:off x="609600" y="590550"/>
            <a:ext cx="6286500" cy="323850"/>
          </a:xfrm>
          <a:prstGeom prst="rect">
            <a:avLst/>
          </a:prstGeom>
          <a:noFill/>
          <a:ln w="0">
            <a:noFill/>
            <a:prstDash val="solid"/>
          </a:ln>
        </p:spPr>
        <p:txBody>
          <a:bodyPr anchor="t">
            <a:noAutofit/>
          </a:bodyPr>
          <a:lstStyle/>
          <a:p>
            <a:pPr algn="l">
              <a:buNone/>
              <a:defRPr sz="1275" b="1">
                <a:solidFill>
                  <a:srgbClr val="FF5A1F"/>
                </a:solidFill>
                <a:latin typeface="Hanken Grotesk"/>
                <a:ea typeface="Hanken Grotesk"/>
                <a:cs typeface="Hanken Grotesk"/>
              </a:defRPr>
            </a:pPr>
            <a:r>
              <a:rPr sz="1275" b="1">
                <a:solidFill>
                  <a:srgbClr val="FF5A1F"/>
                </a:solidFill>
                <a:latin typeface="Hanken Grotesk"/>
                <a:ea typeface="Hanken Grotesk"/>
                <a:cs typeface="Hanken Grotesk"/>
              </a:rPr>
              <a:t>FREIGHTHERO DATA ENGINEER ASSESSMENT</a:t>
            </a:r>
          </a:p>
        </p:txBody>
      </p:sp>
      <p:sp>
        <p:nvSpPr>
          <p:cNvPr id="3" name="cover-title">
            <a:extLst>
              <a:ext uri="{FF2B5EF4-FFF2-40B4-BE49-F238E27FC236}">
                <a16:creationId xmlns:a16="http://schemas.microsoft.com/office/drawing/2014/main" id="{FF24B618-8D67-450A-8EE8-2A60398C6262}"/>
              </a:ext>
            </a:extLst>
          </p:cNvPr>
          <p:cNvSpPr>
            <a:spLocks noGrp="1"/>
          </p:cNvSpPr>
          <p:nvPr/>
        </p:nvSpPr>
        <p:spPr>
          <a:xfrm>
            <a:off x="609600" y="2690446"/>
            <a:ext cx="9429750" cy="1439008"/>
          </a:xfrm>
          <a:prstGeom prst="rect">
            <a:avLst/>
          </a:prstGeom>
          <a:noFill/>
          <a:ln w="0">
            <a:noFill/>
            <a:prstDash val="solid"/>
          </a:ln>
        </p:spPr>
        <p:txBody>
          <a:bodyPr anchor="b">
            <a:normAutofit/>
          </a:bodyPr>
          <a:lstStyle/>
          <a:p>
            <a:pPr algn="l">
              <a:buNone/>
              <a:defRPr sz="4650" b="1">
                <a:solidFill>
                  <a:srgbClr val="FFFFFF"/>
                </a:solidFill>
                <a:latin typeface="Hanken Grotesk"/>
                <a:ea typeface="Hanken Grotesk"/>
                <a:cs typeface="Hanken Grotesk"/>
              </a:defRPr>
            </a:pPr>
            <a:r>
              <a:rPr sz="4650" b="1"/>
              <a:t>Carrier Profile &amp; Risk Score Pipeline</a:t>
            </a:r>
            <a:endParaRPr sz="4650"/>
          </a:p>
          <a:p>
            <a:pPr algn="l">
              <a:buNone/>
              <a:defRPr sz="4650" b="1">
                <a:solidFill>
                  <a:srgbClr val="FFFFFF"/>
                </a:solidFill>
                <a:latin typeface="Hanken Grotesk"/>
                <a:ea typeface="Hanken Grotesk"/>
                <a:cs typeface="Hanken Grotesk"/>
              </a:defRPr>
            </a:pPr>
            <a:endParaRPr sz="4650" b="1">
              <a:solidFill>
                <a:srgbClr val="FFFFFF"/>
              </a:solidFill>
              <a:latin typeface="Hanken Grotesk"/>
              <a:ea typeface="Hanken Grotesk"/>
              <a:cs typeface="Hanken Grotesk"/>
            </a:endParaRPr>
          </a:p>
        </p:txBody>
      </p:sp>
      <p:sp>
        <p:nvSpPr>
          <p:cNvPr id="5" name="cover-author">
            <a:extLst>
              <a:ext uri="{FF2B5EF4-FFF2-40B4-BE49-F238E27FC236}">
                <a16:creationId xmlns:a16="http://schemas.microsoft.com/office/drawing/2014/main" id="{901AE6BE-B2A9-45C2-8A89-001FF332D146}"/>
              </a:ext>
            </a:extLst>
          </p:cNvPr>
          <p:cNvSpPr>
            <a:spLocks noGrp="1"/>
          </p:cNvSpPr>
          <p:nvPr/>
        </p:nvSpPr>
        <p:spPr>
          <a:xfrm>
            <a:off x="609600" y="5905500"/>
            <a:ext cx="6858000" cy="323850"/>
          </a:xfrm>
          <a:prstGeom prst="rect">
            <a:avLst/>
          </a:prstGeom>
          <a:noFill/>
          <a:ln w="0">
            <a:noFill/>
            <a:prstDash val="solid"/>
          </a:ln>
        </p:spPr>
        <p:txBody>
          <a:bodyPr anchor="t">
            <a:noAutofit/>
          </a:bodyPr>
          <a:lstStyle/>
          <a:p>
            <a:pPr algn="l">
              <a:buNone/>
              <a:defRPr sz="1350" b="0">
                <a:solidFill>
                  <a:srgbClr val="FFFFFF"/>
                </a:solidFill>
                <a:latin typeface="Hanken Grotesk"/>
                <a:ea typeface="Hanken Grotesk"/>
                <a:cs typeface="Hanken Grotesk"/>
              </a:defRPr>
            </a:pPr>
            <a:r>
              <a:rPr sz="1350" b="0">
                <a:solidFill>
                  <a:srgbClr val="FFFFFF"/>
                </a:solidFill>
                <a:latin typeface="Hanken Grotesk"/>
                <a:ea typeface="Hanken Grotesk"/>
                <a:cs typeface="Hanken Grotesk"/>
              </a:rPr>
              <a:t>Alexander Minagawa  |  Carrier Profile &amp; Risk Analysis</a:t>
            </a:r>
          </a:p>
        </p:txBody>
      </p:sp>
      <p:sp>
        <p:nvSpPr>
          <p:cNvPr id="6" name="footer-1">
            <a:extLst>
              <a:ext uri="{FF2B5EF4-FFF2-40B4-BE49-F238E27FC236}">
                <a16:creationId xmlns:a16="http://schemas.microsoft.com/office/drawing/2014/main" id="{4F520647-3E32-41DC-9587-1AA8C9DE2BA4}"/>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1 / 7</a:t>
            </a:r>
          </a:p>
        </p:txBody>
      </p:sp>
      <p:pic>
        <p:nvPicPr>
          <p:cNvPr id="14" name="Picture 14"/>
          <p:cNvPicPr>
            <a:picLocks noChangeAspect="1"/>
          </p:cNvPicPr>
          <p:nvPr/>
        </p:nvPicPr>
        <p:blipFill>
          <a:blip r:embed="rId3"/>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1198218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16" name="slide-title-2">
            <a:extLst>
              <a:ext uri="{FF2B5EF4-FFF2-40B4-BE49-F238E27FC236}">
                <a16:creationId xmlns:a16="http://schemas.microsoft.com/office/drawing/2014/main" id="{89C33F00-85A3-4378-A718-89927769F56B}"/>
              </a:ext>
            </a:extLst>
          </p:cNvPr>
          <p:cNvSpPr>
            <a:spLocks noGrp="1"/>
          </p:cNvSpPr>
          <p:nvPr/>
        </p:nvSpPr>
        <p:spPr>
          <a:xfrm>
            <a:off x="533400" y="381000"/>
            <a:ext cx="11125200" cy="838200"/>
          </a:xfrm>
          <a:prstGeom prst="rect">
            <a:avLst/>
          </a:prstGeom>
          <a:noFill/>
          <a:ln w="0">
            <a:noFill/>
            <a:prstDash val="solid"/>
          </a:ln>
        </p:spPr>
        <p:txBody>
          <a:bodyPr anchor="t">
            <a:normAutofit/>
          </a:bodyPr>
          <a:lstStyle/>
          <a:p>
            <a:pPr algn="l">
              <a:buNone/>
              <a:defRPr sz="2625" b="1">
                <a:solidFill>
                  <a:srgbClr val="FFFFFF"/>
                </a:solidFill>
                <a:latin typeface="Hanken Grotesk"/>
                <a:ea typeface="Hanken Grotesk"/>
                <a:cs typeface="Hanken Grotesk"/>
              </a:defRPr>
            </a:pPr>
            <a:r>
              <a:rPr sz="2625" b="1">
                <a:solidFill>
                  <a:srgbClr val="FFFFFF"/>
                </a:solidFill>
                <a:latin typeface="Hanken Grotesk"/>
                <a:ea typeface="Hanken Grotesk"/>
                <a:cs typeface="Hanken Grotesk"/>
              </a:rPr>
              <a:t>Metrics &amp; assumptions</a:t>
            </a:r>
          </a:p>
        </p:txBody>
      </p:sp>
      <p:cxnSp>
        <p:nvCxnSpPr>
          <p:cNvPr id="66" name="title-rule-2"/>
          <p:cNvCxnSpPr/>
          <p:nvPr/>
        </p:nvCxnSpPr>
        <p:spPr>
          <a:xfrm>
            <a:off x="533400" y="1285875"/>
            <a:ext cx="11125200" cy="0"/>
          </a:xfrm>
          <a:prstGeom prst="straightConnector1">
            <a:avLst/>
          </a:prstGeom>
          <a:ln w="9525">
            <a:solidFill>
              <a:srgbClr val="282828"/>
            </a:solidFill>
            <a:prstDash val="solid"/>
          </a:ln>
        </p:spPr>
      </p:cxnSp>
      <p:sp>
        <p:nvSpPr>
          <p:cNvPr id="3" name="footer-2">
            <a:extLst>
              <a:ext uri="{FF2B5EF4-FFF2-40B4-BE49-F238E27FC236}">
                <a16:creationId xmlns:a16="http://schemas.microsoft.com/office/drawing/2014/main" id="{88C96453-2E61-42D3-925B-9BEB0CFC8657}"/>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2 / 7</a:t>
            </a:r>
          </a:p>
        </p:txBody>
      </p:sp>
      <p:cxnSp>
        <p:nvCxnSpPr>
          <p:cNvPr id="68" name="quadrant-rule-2a"/>
          <p:cNvCxnSpPr/>
          <p:nvPr/>
        </p:nvCxnSpPr>
        <p:spPr>
          <a:xfrm>
            <a:off x="609600" y="1790700"/>
            <a:ext cx="4953000" cy="0"/>
          </a:xfrm>
          <a:prstGeom prst="straightConnector1">
            <a:avLst/>
          </a:prstGeom>
          <a:ln w="38100">
            <a:solidFill>
              <a:srgbClr val="FF5A1F"/>
            </a:solidFill>
            <a:prstDash val="solid"/>
          </a:ln>
        </p:spPr>
      </p:cxnSp>
      <p:sp>
        <p:nvSpPr>
          <p:cNvPr id="5" name="quadrant-heading-2a">
            <a:extLst>
              <a:ext uri="{FF2B5EF4-FFF2-40B4-BE49-F238E27FC236}">
                <a16:creationId xmlns:a16="http://schemas.microsoft.com/office/drawing/2014/main" id="{66AF595D-366F-40B7-938F-6F315048D210}"/>
              </a:ext>
            </a:extLst>
          </p:cNvPr>
          <p:cNvSpPr>
            <a:spLocks noGrp="1"/>
          </p:cNvSpPr>
          <p:nvPr/>
        </p:nvSpPr>
        <p:spPr>
          <a:xfrm>
            <a:off x="609600" y="19621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No response</a:t>
            </a:r>
          </a:p>
        </p:txBody>
      </p:sp>
      <p:sp>
        <p:nvSpPr>
          <p:cNvPr id="6" name="quadrant-body-2a">
            <a:extLst>
              <a:ext uri="{FF2B5EF4-FFF2-40B4-BE49-F238E27FC236}">
                <a16:creationId xmlns:a16="http://schemas.microsoft.com/office/drawing/2014/main" id="{7CD242E9-724A-4E1C-92C0-49EE79F36527}"/>
              </a:ext>
            </a:extLst>
          </p:cNvPr>
          <p:cNvSpPr>
            <a:spLocks noGrp="1"/>
          </p:cNvSpPr>
          <p:nvPr/>
        </p:nvSpPr>
        <p:spPr>
          <a:xfrm>
            <a:off x="609600" y="2428875"/>
            <a:ext cx="4953000" cy="971550"/>
          </a:xfrm>
          <a:prstGeom prst="rect">
            <a:avLst/>
          </a:prstGeom>
          <a:noFill/>
          <a:ln w="0">
            <a:noFill/>
            <a:prstDash val="solid"/>
          </a:ln>
        </p:spPr>
        <p:txBody>
          <a:bodyPr anchor="t">
            <a:normAutofit/>
          </a:bodyPr>
          <a:lstStyle/>
          <a:p>
            <a:pPr>
              <a:lnSpc>
                <a:spcPct val="108000"/>
              </a:lnSpc>
              <a:buNone/>
              <a:defRPr sz="1575" b="0">
                <a:solidFill>
                  <a:srgbClr val="B4B4B4"/>
                </a:solidFill>
                <a:latin typeface="Hanken Grotesk"/>
                <a:ea typeface="Hanken Grotesk"/>
                <a:cs typeface="Hanken Grotesk"/>
              </a:defRPr>
            </a:pPr>
            <a:r>
              <a:rPr sz="1575"/>
              <a:t>Some carriers leave FreightHero messages unanswered.</a:t>
            </a:r>
            <a:endParaRPr sz="1575" b="0">
              <a:solidFill>
                <a:srgbClr val="B4B4B4"/>
              </a:solidFill>
              <a:latin typeface="Hanken Grotesk"/>
              <a:ea typeface="Hanken Grotesk"/>
              <a:cs typeface="Hanken Grotesk"/>
            </a:endParaRPr>
          </a:p>
        </p:txBody>
      </p:sp>
      <p:cxnSp>
        <p:nvCxnSpPr>
          <p:cNvPr id="71" name="quadrant-rule-2b"/>
          <p:cNvCxnSpPr/>
          <p:nvPr/>
        </p:nvCxnSpPr>
        <p:spPr>
          <a:xfrm>
            <a:off x="6629400" y="1790700"/>
            <a:ext cx="4953000" cy="0"/>
          </a:xfrm>
          <a:prstGeom prst="straightConnector1">
            <a:avLst/>
          </a:prstGeom>
          <a:ln w="38100">
            <a:solidFill>
              <a:srgbClr val="FF5A1F"/>
            </a:solidFill>
            <a:prstDash val="solid"/>
          </a:ln>
        </p:spPr>
      </p:cxnSp>
      <p:sp>
        <p:nvSpPr>
          <p:cNvPr id="8" name="quadrant-heading-2b">
            <a:extLst>
              <a:ext uri="{FF2B5EF4-FFF2-40B4-BE49-F238E27FC236}">
                <a16:creationId xmlns:a16="http://schemas.microsoft.com/office/drawing/2014/main" id="{BB5B7594-4057-495B-B63C-9BFB3C1BF17F}"/>
              </a:ext>
            </a:extLst>
          </p:cNvPr>
          <p:cNvSpPr>
            <a:spLocks noGrp="1"/>
          </p:cNvSpPr>
          <p:nvPr/>
        </p:nvSpPr>
        <p:spPr>
          <a:xfrm>
            <a:off x="6629400" y="19621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Slow response</a:t>
            </a:r>
          </a:p>
        </p:txBody>
      </p:sp>
      <p:sp>
        <p:nvSpPr>
          <p:cNvPr id="9" name="quadrant-body-2b">
            <a:extLst>
              <a:ext uri="{FF2B5EF4-FFF2-40B4-BE49-F238E27FC236}">
                <a16:creationId xmlns:a16="http://schemas.microsoft.com/office/drawing/2014/main" id="{3F13EF78-C286-4177-9601-6BF31D52D8D0}"/>
              </a:ext>
            </a:extLst>
          </p:cNvPr>
          <p:cNvSpPr>
            <a:spLocks noGrp="1"/>
          </p:cNvSpPr>
          <p:nvPr/>
        </p:nvSpPr>
        <p:spPr>
          <a:xfrm>
            <a:off x="6629400" y="2428875"/>
            <a:ext cx="4953000" cy="971550"/>
          </a:xfrm>
          <a:prstGeom prst="rect">
            <a:avLst/>
          </a:prstGeom>
          <a:noFill/>
          <a:ln w="0">
            <a:noFill/>
            <a:prstDash val="solid"/>
          </a:ln>
        </p:spPr>
        <p:txBody>
          <a:bodyPr anchor="t">
            <a:normAutofit/>
          </a:bodyPr>
          <a:lstStyle/>
          <a:p>
            <a:pPr>
              <a:lnSpc>
                <a:spcPct val="108000"/>
              </a:lnSpc>
              <a:buNone/>
              <a:defRPr sz="1575" b="0">
                <a:solidFill>
                  <a:srgbClr val="B4B4B4"/>
                </a:solidFill>
                <a:latin typeface="Hanken Grotesk"/>
                <a:ea typeface="Hanken Grotesk"/>
                <a:cs typeface="Hanken Grotesk"/>
              </a:defRPr>
            </a:pPr>
            <a:r>
              <a:rPr sz="1575"/>
              <a:t>Other carriers respond, but their delays can affect operational coordination.</a:t>
            </a:r>
            <a:endParaRPr sz="1575" b="0">
              <a:solidFill>
                <a:srgbClr val="B4B4B4"/>
              </a:solidFill>
              <a:latin typeface="Hanken Grotesk"/>
              <a:ea typeface="Hanken Grotesk"/>
              <a:cs typeface="Hanken Grotesk"/>
            </a:endParaRPr>
          </a:p>
        </p:txBody>
      </p:sp>
      <p:cxnSp>
        <p:nvCxnSpPr>
          <p:cNvPr id="74" name="quadrant-rule-2c"/>
          <p:cNvCxnSpPr/>
          <p:nvPr/>
        </p:nvCxnSpPr>
        <p:spPr>
          <a:xfrm>
            <a:off x="609600" y="4000500"/>
            <a:ext cx="4953000" cy="0"/>
          </a:xfrm>
          <a:prstGeom prst="straightConnector1">
            <a:avLst/>
          </a:prstGeom>
          <a:ln w="38100">
            <a:solidFill>
              <a:srgbClr val="FF5A1F"/>
            </a:solidFill>
            <a:prstDash val="solid"/>
          </a:ln>
        </p:spPr>
      </p:cxnSp>
      <p:sp>
        <p:nvSpPr>
          <p:cNvPr id="11" name="quadrant-heading-2c">
            <a:extLst>
              <a:ext uri="{FF2B5EF4-FFF2-40B4-BE49-F238E27FC236}">
                <a16:creationId xmlns:a16="http://schemas.microsoft.com/office/drawing/2014/main" id="{A9C05D90-9786-4954-B05C-37E3A4D285A4}"/>
              </a:ext>
            </a:extLst>
          </p:cNvPr>
          <p:cNvSpPr>
            <a:spLocks noGrp="1"/>
          </p:cNvSpPr>
          <p:nvPr/>
        </p:nvSpPr>
        <p:spPr>
          <a:xfrm>
            <a:off x="609600" y="41719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Clear scope</a:t>
            </a:r>
          </a:p>
        </p:txBody>
      </p:sp>
      <p:sp>
        <p:nvSpPr>
          <p:cNvPr id="12" name="quadrant-body-2c">
            <a:extLst>
              <a:ext uri="{FF2B5EF4-FFF2-40B4-BE49-F238E27FC236}">
                <a16:creationId xmlns:a16="http://schemas.microsoft.com/office/drawing/2014/main" id="{BE47F0C8-F25E-4243-B9C7-6B31706A6934}"/>
              </a:ext>
            </a:extLst>
          </p:cNvPr>
          <p:cNvSpPr>
            <a:spLocks noGrp="1"/>
          </p:cNvSpPr>
          <p:nvPr/>
        </p:nvSpPr>
        <p:spPr>
          <a:xfrm>
            <a:off x="609600" y="4638675"/>
            <a:ext cx="4953000" cy="971550"/>
          </a:xfrm>
          <a:prstGeom prst="rect">
            <a:avLst/>
          </a:prstGeom>
          <a:noFill/>
          <a:ln w="0">
            <a:noFill/>
            <a:prstDash val="solid"/>
          </a:ln>
        </p:spPr>
        <p:txBody>
          <a:bodyPr anchor="t">
            <a:normAutofit/>
          </a:bodyPr>
          <a:lstStyle/>
          <a:p>
            <a:pPr algn="l">
              <a:lnSpc>
                <a:spcPct val="108000"/>
              </a:lnSpc>
              <a:buNone/>
              <a:defRPr sz="1575" b="0">
                <a:solidFill>
                  <a:srgbClr val="B4B4B4"/>
                </a:solidFill>
                <a:latin typeface="Hanken Grotesk"/>
                <a:ea typeface="Hanken Grotesk"/>
                <a:cs typeface="Hanken Grotesk"/>
              </a:defRPr>
            </a:pPr>
            <a:r>
              <a:rPr sz="1575" b="0">
                <a:solidFill>
                  <a:srgbClr val="B4B4B4"/>
                </a:solidFill>
                <a:latin typeface="Hanken Grotesk"/>
                <a:ea typeface="Hanken Grotesk"/>
                <a:cs typeface="Hanken Grotesk"/>
              </a:rPr>
              <a:t>The score measures communication responsiveness—not safety, financial, or delivery risk.</a:t>
            </a:r>
          </a:p>
        </p:txBody>
      </p:sp>
      <p:pic>
        <p:nvPicPr>
          <p:cNvPr id="77" name="Picture 57"/>
          <p:cNvPicPr>
            <a:picLocks noChangeAspect="1"/>
          </p:cNvPicPr>
          <p:nvPr/>
        </p:nvPicPr>
        <p:blipFill>
          <a:blip r:embed="rId3"/>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508016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17" name="slide-title-3">
            <a:extLst>
              <a:ext uri="{FF2B5EF4-FFF2-40B4-BE49-F238E27FC236}">
                <a16:creationId xmlns:a16="http://schemas.microsoft.com/office/drawing/2014/main" id="{B2B73027-553A-4FD5-AB1D-7455947B79F2}"/>
              </a:ext>
            </a:extLst>
          </p:cNvPr>
          <p:cNvSpPr>
            <a:spLocks noGrp="1"/>
          </p:cNvSpPr>
          <p:nvPr/>
        </p:nvSpPr>
        <p:spPr>
          <a:xfrm>
            <a:off x="533400" y="381000"/>
            <a:ext cx="11125200" cy="838200"/>
          </a:xfrm>
          <a:prstGeom prst="rect">
            <a:avLst/>
          </a:prstGeom>
          <a:noFill/>
          <a:ln w="0">
            <a:noFill/>
            <a:prstDash val="solid"/>
          </a:ln>
        </p:spPr>
        <p:txBody>
          <a:bodyPr anchor="t">
            <a:normAutofit/>
          </a:bodyPr>
          <a:lstStyle/>
          <a:p>
            <a:pPr algn="l">
              <a:buNone/>
              <a:defRPr sz="2625" b="1">
                <a:solidFill>
                  <a:srgbClr val="FFFFFF"/>
                </a:solidFill>
                <a:latin typeface="Hanken Grotesk"/>
                <a:ea typeface="Hanken Grotesk"/>
                <a:cs typeface="Hanken Grotesk"/>
              </a:defRPr>
            </a:pPr>
            <a:r>
              <a:rPr sz="2625" b="1" dirty="0">
                <a:solidFill>
                  <a:srgbClr val="FFFFFF"/>
                </a:solidFill>
                <a:latin typeface="Hanken Grotesk"/>
                <a:ea typeface="Hanken Grotesk"/>
                <a:cs typeface="Hanken Grotesk"/>
              </a:rPr>
              <a:t>The pipeline turns raw communications </a:t>
            </a:r>
            <a:r>
              <a:rPr sz="2625" b="1">
                <a:solidFill>
                  <a:srgbClr val="FFFFFF"/>
                </a:solidFill>
                <a:latin typeface="Hanken Grotesk"/>
                <a:ea typeface="Hanken Grotesk"/>
                <a:cs typeface="Hanken Grotesk"/>
              </a:rPr>
              <a:t>into operational </a:t>
            </a:r>
            <a:r>
              <a:rPr sz="2625" b="1" dirty="0">
                <a:solidFill>
                  <a:srgbClr val="FFFFFF"/>
                </a:solidFill>
                <a:latin typeface="Hanken Grotesk"/>
                <a:ea typeface="Hanken Grotesk"/>
                <a:cs typeface="Hanken Grotesk"/>
              </a:rPr>
              <a:t>metrics</a:t>
            </a:r>
          </a:p>
        </p:txBody>
      </p:sp>
      <p:cxnSp>
        <p:nvCxnSpPr>
          <p:cNvPr id="37" name="title-rule-3"/>
          <p:cNvCxnSpPr/>
          <p:nvPr/>
        </p:nvCxnSpPr>
        <p:spPr>
          <a:xfrm>
            <a:off x="533400" y="1285875"/>
            <a:ext cx="11125200" cy="0"/>
          </a:xfrm>
          <a:prstGeom prst="straightConnector1">
            <a:avLst/>
          </a:prstGeom>
          <a:ln w="9525">
            <a:solidFill>
              <a:srgbClr val="282828"/>
            </a:solidFill>
            <a:prstDash val="solid"/>
          </a:ln>
        </p:spPr>
      </p:cxnSp>
      <p:sp>
        <p:nvSpPr>
          <p:cNvPr id="3" name="footer-3">
            <a:extLst>
              <a:ext uri="{FF2B5EF4-FFF2-40B4-BE49-F238E27FC236}">
                <a16:creationId xmlns:a16="http://schemas.microsoft.com/office/drawing/2014/main" id="{69FD2B6D-CAEC-4577-A5FC-F69849F02B4A}"/>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3 / 7</a:t>
            </a:r>
          </a:p>
        </p:txBody>
      </p:sp>
      <p:cxnSp>
        <p:nvCxnSpPr>
          <p:cNvPr id="39" name="timeline-main-line"/>
          <p:cNvCxnSpPr/>
          <p:nvPr/>
        </p:nvCxnSpPr>
        <p:spPr>
          <a:xfrm>
            <a:off x="1047750" y="3114675"/>
            <a:ext cx="10096500" cy="0"/>
          </a:xfrm>
          <a:prstGeom prst="straightConnector1">
            <a:avLst/>
          </a:prstGeom>
          <a:ln w="28575">
            <a:solidFill>
              <a:srgbClr val="583348"/>
            </a:solidFill>
            <a:prstDash val="solid"/>
          </a:ln>
        </p:spPr>
      </p:cxnSp>
      <p:sp>
        <p:nvSpPr>
          <p:cNvPr id="5" name="timeline-node-1">
            <a:extLst>
              <a:ext uri="{FF2B5EF4-FFF2-40B4-BE49-F238E27FC236}">
                <a16:creationId xmlns:a16="http://schemas.microsoft.com/office/drawing/2014/main" id="{698EE01A-20A8-4233-A3FC-3CB79195E9F6}"/>
              </a:ext>
            </a:extLst>
          </p:cNvPr>
          <p:cNvSpPr>
            <a:spLocks noGrp="1"/>
          </p:cNvSpPr>
          <p:nvPr/>
        </p:nvSpPr>
        <p:spPr>
          <a:xfrm>
            <a:off x="1428750" y="2943225"/>
            <a:ext cx="361950" cy="361950"/>
          </a:xfrm>
          <a:prstGeom prst="ellipse">
            <a:avLst/>
          </a:prstGeom>
          <a:solidFill>
            <a:srgbClr val="FF5A1F"/>
          </a:solidFill>
          <a:ln w="0">
            <a:solidFill>
              <a:srgbClr val="FF5A1F"/>
            </a:solidFill>
            <a:prstDash val="solid"/>
          </a:ln>
        </p:spPr>
      </p:sp>
      <p:sp>
        <p:nvSpPr>
          <p:cNvPr id="6" name="timeline-label-1">
            <a:extLst>
              <a:ext uri="{FF2B5EF4-FFF2-40B4-BE49-F238E27FC236}">
                <a16:creationId xmlns:a16="http://schemas.microsoft.com/office/drawing/2014/main" id="{AC1B8B8F-7785-45F9-BC4F-77EDDD11B9E6}"/>
              </a:ext>
            </a:extLst>
          </p:cNvPr>
          <p:cNvSpPr>
            <a:spLocks noGrp="1"/>
          </p:cNvSpPr>
          <p:nvPr/>
        </p:nvSpPr>
        <p:spPr>
          <a:xfrm>
            <a:off x="1409700" y="2476500"/>
            <a:ext cx="1619250" cy="285750"/>
          </a:xfrm>
          <a:prstGeom prst="rect">
            <a:avLst/>
          </a:prstGeom>
          <a:noFill/>
          <a:ln w="0">
            <a:noFill/>
            <a:prstDash val="solid"/>
          </a:ln>
        </p:spPr>
        <p:txBody>
          <a:bodyPr anchor="t">
            <a:noAutofit/>
          </a:bodyPr>
          <a:lstStyle/>
          <a:p>
            <a:pPr algn="l">
              <a:buNone/>
              <a:defRPr sz="1350" b="1">
                <a:solidFill>
                  <a:srgbClr val="FF5A1F"/>
                </a:solidFill>
                <a:latin typeface="Hanken Grotesk"/>
                <a:ea typeface="Hanken Grotesk"/>
                <a:cs typeface="Hanken Grotesk"/>
              </a:defRPr>
            </a:pPr>
            <a:r>
              <a:rPr sz="1350" b="1">
                <a:solidFill>
                  <a:srgbClr val="FF5A1F"/>
                </a:solidFill>
                <a:latin typeface="Hanken Grotesk"/>
                <a:ea typeface="Hanken Grotesk"/>
                <a:cs typeface="Hanken Grotesk"/>
              </a:rPr>
              <a:t>INGEST</a:t>
            </a:r>
          </a:p>
        </p:txBody>
      </p:sp>
      <p:sp>
        <p:nvSpPr>
          <p:cNvPr id="7" name="timeline-heading-1">
            <a:extLst>
              <a:ext uri="{FF2B5EF4-FFF2-40B4-BE49-F238E27FC236}">
                <a16:creationId xmlns:a16="http://schemas.microsoft.com/office/drawing/2014/main" id="{239E76C1-3A6F-42AD-9016-83898F2B84C9}"/>
              </a:ext>
            </a:extLst>
          </p:cNvPr>
          <p:cNvSpPr>
            <a:spLocks noGrp="1"/>
          </p:cNvSpPr>
          <p:nvPr/>
        </p:nvSpPr>
        <p:spPr>
          <a:xfrm>
            <a:off x="1409700" y="3638550"/>
            <a:ext cx="276225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Sources → Bronze</a:t>
            </a:r>
          </a:p>
        </p:txBody>
      </p:sp>
      <p:sp>
        <p:nvSpPr>
          <p:cNvPr id="8" name="timeline-body-1">
            <a:extLst>
              <a:ext uri="{FF2B5EF4-FFF2-40B4-BE49-F238E27FC236}">
                <a16:creationId xmlns:a16="http://schemas.microsoft.com/office/drawing/2014/main" id="{AABA2F24-22CF-4A8C-96C5-5FAE56C68C0A}"/>
              </a:ext>
            </a:extLst>
          </p:cNvPr>
          <p:cNvSpPr>
            <a:spLocks noGrp="1"/>
          </p:cNvSpPr>
          <p:nvPr/>
        </p:nvSpPr>
        <p:spPr>
          <a:xfrm>
            <a:off x="1409700" y="4171950"/>
            <a:ext cx="2762250" cy="1181100"/>
          </a:xfrm>
          <a:prstGeom prst="rect">
            <a:avLst/>
          </a:prstGeom>
          <a:noFill/>
          <a:ln w="0">
            <a:noFill/>
            <a:prstDash val="solid"/>
          </a:ln>
        </p:spPr>
        <p:txBody>
          <a:bodyPr anchor="t">
            <a:normAutofit/>
          </a:bodyPr>
          <a:lstStyle/>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CSV, JSON and TXT</a:t>
            </a:r>
          </a:p>
          <a:p>
            <a:pPr algn="l">
              <a:lnSpc>
                <a:spcPct val="108000"/>
              </a:lnSpc>
              <a:buNone/>
              <a:defRPr sz="1500" b="0">
                <a:solidFill>
                  <a:srgbClr val="B4B4B4"/>
                </a:solidFill>
                <a:latin typeface="Hanken Grotesk"/>
                <a:ea typeface="Hanken Grotesk"/>
                <a:cs typeface="Hanken Grotesk"/>
              </a:defRPr>
            </a:pPr>
            <a:endParaRPr sz="1500" b="0">
              <a:solidFill>
                <a:srgbClr val="B4B4B4"/>
              </a:solidFill>
              <a:latin typeface="Hanken Grotesk"/>
              <a:ea typeface="Hanken Grotesk"/>
              <a:cs typeface="Hanken Grotesk"/>
            </a:endParaRPr>
          </a:p>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Preserve source structure</a:t>
            </a:r>
          </a:p>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Add ingestion metadata</a:t>
            </a:r>
          </a:p>
        </p:txBody>
      </p:sp>
      <p:sp>
        <p:nvSpPr>
          <p:cNvPr id="9" name="timeline-node-2">
            <a:extLst>
              <a:ext uri="{FF2B5EF4-FFF2-40B4-BE49-F238E27FC236}">
                <a16:creationId xmlns:a16="http://schemas.microsoft.com/office/drawing/2014/main" id="{9E6E0085-4C86-4E80-A711-CD556678C246}"/>
              </a:ext>
            </a:extLst>
          </p:cNvPr>
          <p:cNvSpPr>
            <a:spLocks noGrp="1"/>
          </p:cNvSpPr>
          <p:nvPr/>
        </p:nvSpPr>
        <p:spPr>
          <a:xfrm>
            <a:off x="4953000" y="2943225"/>
            <a:ext cx="361950" cy="361950"/>
          </a:xfrm>
          <a:prstGeom prst="ellipse">
            <a:avLst/>
          </a:prstGeom>
          <a:solidFill>
            <a:srgbClr val="FF5A1F"/>
          </a:solidFill>
          <a:ln w="0">
            <a:solidFill>
              <a:srgbClr val="FF5A1F"/>
            </a:solidFill>
            <a:prstDash val="solid"/>
          </a:ln>
        </p:spPr>
      </p:sp>
      <p:sp>
        <p:nvSpPr>
          <p:cNvPr id="10" name="timeline-label-2">
            <a:extLst>
              <a:ext uri="{FF2B5EF4-FFF2-40B4-BE49-F238E27FC236}">
                <a16:creationId xmlns:a16="http://schemas.microsoft.com/office/drawing/2014/main" id="{8A32E195-DEBC-4646-BEC8-8EF3B40F3326}"/>
              </a:ext>
            </a:extLst>
          </p:cNvPr>
          <p:cNvSpPr>
            <a:spLocks noGrp="1"/>
          </p:cNvSpPr>
          <p:nvPr/>
        </p:nvSpPr>
        <p:spPr>
          <a:xfrm>
            <a:off x="4933950" y="2476500"/>
            <a:ext cx="1619250" cy="285750"/>
          </a:xfrm>
          <a:prstGeom prst="rect">
            <a:avLst/>
          </a:prstGeom>
          <a:noFill/>
          <a:ln w="0">
            <a:noFill/>
            <a:prstDash val="solid"/>
          </a:ln>
        </p:spPr>
        <p:txBody>
          <a:bodyPr anchor="t">
            <a:noAutofit/>
          </a:bodyPr>
          <a:lstStyle/>
          <a:p>
            <a:pPr algn="l">
              <a:buNone/>
              <a:defRPr sz="1350" b="1">
                <a:solidFill>
                  <a:srgbClr val="FF5A1F"/>
                </a:solidFill>
                <a:latin typeface="Hanken Grotesk"/>
                <a:ea typeface="Hanken Grotesk"/>
                <a:cs typeface="Hanken Grotesk"/>
              </a:defRPr>
            </a:pPr>
            <a:r>
              <a:rPr sz="1350" b="1">
                <a:solidFill>
                  <a:srgbClr val="FF5A1F"/>
                </a:solidFill>
                <a:latin typeface="Hanken Grotesk"/>
                <a:ea typeface="Hanken Grotesk"/>
                <a:cs typeface="Hanken Grotesk"/>
              </a:rPr>
              <a:t>MODEL</a:t>
            </a:r>
          </a:p>
        </p:txBody>
      </p:sp>
      <p:sp>
        <p:nvSpPr>
          <p:cNvPr id="11" name="timeline-heading-2">
            <a:extLst>
              <a:ext uri="{FF2B5EF4-FFF2-40B4-BE49-F238E27FC236}">
                <a16:creationId xmlns:a16="http://schemas.microsoft.com/office/drawing/2014/main" id="{5721470E-7CB7-4FB6-B1FA-B3A1928890D4}"/>
              </a:ext>
            </a:extLst>
          </p:cNvPr>
          <p:cNvSpPr>
            <a:spLocks noGrp="1"/>
          </p:cNvSpPr>
          <p:nvPr/>
        </p:nvSpPr>
        <p:spPr>
          <a:xfrm>
            <a:off x="4933950" y="3638550"/>
            <a:ext cx="276225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Silver → Gold</a:t>
            </a:r>
          </a:p>
        </p:txBody>
      </p:sp>
      <p:sp>
        <p:nvSpPr>
          <p:cNvPr id="12" name="timeline-body-2">
            <a:extLst>
              <a:ext uri="{FF2B5EF4-FFF2-40B4-BE49-F238E27FC236}">
                <a16:creationId xmlns:a16="http://schemas.microsoft.com/office/drawing/2014/main" id="{E3AFE20D-951D-4BDD-93F4-B0EEE827EE0E}"/>
              </a:ext>
            </a:extLst>
          </p:cNvPr>
          <p:cNvSpPr>
            <a:spLocks noGrp="1"/>
          </p:cNvSpPr>
          <p:nvPr/>
        </p:nvSpPr>
        <p:spPr>
          <a:xfrm>
            <a:off x="4933950" y="4171950"/>
            <a:ext cx="2762250" cy="1181100"/>
          </a:xfrm>
          <a:prstGeom prst="rect">
            <a:avLst/>
          </a:prstGeom>
          <a:noFill/>
          <a:ln w="0">
            <a:noFill/>
            <a:prstDash val="solid"/>
          </a:ln>
        </p:spPr>
        <p:txBody>
          <a:bodyPr anchor="t">
            <a:normAutofit/>
          </a:bodyPr>
          <a:lstStyle/>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Standardize and validate</a:t>
            </a:r>
          </a:p>
          <a:p>
            <a:pPr algn="l">
              <a:lnSpc>
                <a:spcPct val="108000"/>
              </a:lnSpc>
              <a:buNone/>
              <a:defRPr sz="1500" b="0">
                <a:solidFill>
                  <a:srgbClr val="B4B4B4"/>
                </a:solidFill>
                <a:latin typeface="Hanken Grotesk"/>
                <a:ea typeface="Hanken Grotesk"/>
                <a:cs typeface="Hanken Grotesk"/>
              </a:defRPr>
            </a:pPr>
            <a:endParaRPr sz="1500" b="0">
              <a:solidFill>
                <a:srgbClr val="B4B4B4"/>
              </a:solidFill>
              <a:latin typeface="Hanken Grotesk"/>
              <a:ea typeface="Hanken Grotesk"/>
              <a:cs typeface="Hanken Grotesk"/>
            </a:endParaRPr>
          </a:p>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Join carrier and broker data</a:t>
            </a:r>
          </a:p>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Build response cycles</a:t>
            </a:r>
          </a:p>
        </p:txBody>
      </p:sp>
      <p:sp>
        <p:nvSpPr>
          <p:cNvPr id="13" name="timeline-node-3">
            <a:extLst>
              <a:ext uri="{FF2B5EF4-FFF2-40B4-BE49-F238E27FC236}">
                <a16:creationId xmlns:a16="http://schemas.microsoft.com/office/drawing/2014/main" id="{1A0C9FFF-2709-4D4B-B78B-32EC99C361CF}"/>
              </a:ext>
            </a:extLst>
          </p:cNvPr>
          <p:cNvSpPr>
            <a:spLocks noGrp="1"/>
          </p:cNvSpPr>
          <p:nvPr/>
        </p:nvSpPr>
        <p:spPr>
          <a:xfrm>
            <a:off x="8477250" y="2943225"/>
            <a:ext cx="361950" cy="361950"/>
          </a:xfrm>
          <a:prstGeom prst="ellipse">
            <a:avLst/>
          </a:prstGeom>
          <a:solidFill>
            <a:srgbClr val="FF5A1F"/>
          </a:solidFill>
          <a:ln w="0">
            <a:solidFill>
              <a:srgbClr val="FF5A1F"/>
            </a:solidFill>
            <a:prstDash val="solid"/>
          </a:ln>
        </p:spPr>
      </p:sp>
      <p:sp>
        <p:nvSpPr>
          <p:cNvPr id="14" name="timeline-label-3">
            <a:extLst>
              <a:ext uri="{FF2B5EF4-FFF2-40B4-BE49-F238E27FC236}">
                <a16:creationId xmlns:a16="http://schemas.microsoft.com/office/drawing/2014/main" id="{DEB653F6-1FC2-4AFC-B7B7-64D25F371320}"/>
              </a:ext>
            </a:extLst>
          </p:cNvPr>
          <p:cNvSpPr>
            <a:spLocks noGrp="1"/>
          </p:cNvSpPr>
          <p:nvPr/>
        </p:nvSpPr>
        <p:spPr>
          <a:xfrm>
            <a:off x="8458200" y="2476500"/>
            <a:ext cx="1619250" cy="285750"/>
          </a:xfrm>
          <a:prstGeom prst="rect">
            <a:avLst/>
          </a:prstGeom>
          <a:noFill/>
          <a:ln w="0">
            <a:noFill/>
            <a:prstDash val="solid"/>
          </a:ln>
        </p:spPr>
        <p:txBody>
          <a:bodyPr anchor="t">
            <a:noAutofit/>
          </a:bodyPr>
          <a:lstStyle/>
          <a:p>
            <a:pPr algn="l">
              <a:buNone/>
              <a:defRPr sz="1350" b="1">
                <a:solidFill>
                  <a:srgbClr val="FF5A1F"/>
                </a:solidFill>
                <a:latin typeface="Hanken Grotesk"/>
                <a:ea typeface="Hanken Grotesk"/>
                <a:cs typeface="Hanken Grotesk"/>
              </a:defRPr>
            </a:pPr>
            <a:r>
              <a:rPr sz="1350" b="1">
                <a:solidFill>
                  <a:srgbClr val="FF5A1F"/>
                </a:solidFill>
                <a:latin typeface="Hanken Grotesk"/>
                <a:ea typeface="Hanken Grotesk"/>
                <a:cs typeface="Hanken Grotesk"/>
              </a:rPr>
              <a:t>SERVE</a:t>
            </a:r>
          </a:p>
        </p:txBody>
      </p:sp>
      <p:sp>
        <p:nvSpPr>
          <p:cNvPr id="15" name="timeline-heading-3">
            <a:extLst>
              <a:ext uri="{FF2B5EF4-FFF2-40B4-BE49-F238E27FC236}">
                <a16:creationId xmlns:a16="http://schemas.microsoft.com/office/drawing/2014/main" id="{8DDC05ED-3F1A-465C-9FF0-5F7AA1890E69}"/>
              </a:ext>
            </a:extLst>
          </p:cNvPr>
          <p:cNvSpPr>
            <a:spLocks noGrp="1"/>
          </p:cNvSpPr>
          <p:nvPr/>
        </p:nvSpPr>
        <p:spPr>
          <a:xfrm>
            <a:off x="8458200" y="3638550"/>
            <a:ext cx="2762250" cy="400050"/>
          </a:xfrm>
          <a:prstGeom prst="rect">
            <a:avLst/>
          </a:prstGeom>
          <a:noFill/>
          <a:ln w="0">
            <a:noFill/>
            <a:prstDash val="solid"/>
          </a:ln>
        </p:spPr>
        <p:txBody>
          <a:bodyPr anchor="t">
            <a:normAutofit fontScale="91002"/>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PostgreSQL → Metabase</a:t>
            </a:r>
          </a:p>
        </p:txBody>
      </p:sp>
      <p:sp>
        <p:nvSpPr>
          <p:cNvPr id="16" name="timeline-body-3">
            <a:extLst>
              <a:ext uri="{FF2B5EF4-FFF2-40B4-BE49-F238E27FC236}">
                <a16:creationId xmlns:a16="http://schemas.microsoft.com/office/drawing/2014/main" id="{15E804A0-77C4-454F-B69E-2D2EAD330BB5}"/>
              </a:ext>
            </a:extLst>
          </p:cNvPr>
          <p:cNvSpPr>
            <a:spLocks noGrp="1"/>
          </p:cNvSpPr>
          <p:nvPr/>
        </p:nvSpPr>
        <p:spPr>
          <a:xfrm>
            <a:off x="8458200" y="4171950"/>
            <a:ext cx="2762250" cy="1181100"/>
          </a:xfrm>
          <a:prstGeom prst="rect">
            <a:avLst/>
          </a:prstGeom>
          <a:noFill/>
          <a:ln w="0">
            <a:noFill/>
            <a:prstDash val="solid"/>
          </a:ln>
        </p:spPr>
        <p:txBody>
          <a:bodyPr anchor="t">
            <a:normAutofit/>
          </a:bodyPr>
          <a:lstStyle/>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Publish the analytical table</a:t>
            </a:r>
          </a:p>
          <a:p>
            <a:pPr algn="l">
              <a:lnSpc>
                <a:spcPct val="108000"/>
              </a:lnSpc>
              <a:buNone/>
              <a:defRPr sz="1500" b="0">
                <a:solidFill>
                  <a:srgbClr val="B4B4B4"/>
                </a:solidFill>
                <a:latin typeface="Hanken Grotesk"/>
                <a:ea typeface="Hanken Grotesk"/>
                <a:cs typeface="Hanken Grotesk"/>
              </a:defRPr>
            </a:pPr>
            <a:endParaRPr sz="1500" b="0">
              <a:solidFill>
                <a:srgbClr val="B4B4B4"/>
              </a:solidFill>
              <a:latin typeface="Hanken Grotesk"/>
              <a:ea typeface="Hanken Grotesk"/>
              <a:cs typeface="Hanken Grotesk"/>
            </a:endParaRPr>
          </a:p>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Calculate carrier metrics</a:t>
            </a:r>
          </a:p>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Expose operational views</a:t>
            </a:r>
          </a:p>
        </p:txBody>
      </p:sp>
      <p:pic>
        <p:nvPicPr>
          <p:cNvPr id="52" name="Picture 41"/>
          <p:cNvPicPr>
            <a:picLocks noChangeAspect="1"/>
          </p:cNvPicPr>
          <p:nvPr/>
        </p:nvPicPr>
        <p:blipFill>
          <a:blip r:embed="rId3"/>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100656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16" name="slide-title-6">
            <a:extLst>
              <a:ext uri="{FF2B5EF4-FFF2-40B4-BE49-F238E27FC236}">
                <a16:creationId xmlns:a16="http://schemas.microsoft.com/office/drawing/2014/main" id="{F36E3649-E36D-452E-98ED-D4E179034F52}"/>
              </a:ext>
            </a:extLst>
          </p:cNvPr>
          <p:cNvSpPr>
            <a:spLocks noGrp="1"/>
          </p:cNvSpPr>
          <p:nvPr/>
        </p:nvSpPr>
        <p:spPr>
          <a:xfrm>
            <a:off x="533400" y="381000"/>
            <a:ext cx="11125200" cy="838200"/>
          </a:xfrm>
          <a:prstGeom prst="rect">
            <a:avLst/>
          </a:prstGeom>
          <a:noFill/>
          <a:ln w="0">
            <a:noFill/>
            <a:prstDash val="solid"/>
          </a:ln>
        </p:spPr>
        <p:txBody>
          <a:bodyPr anchor="t">
            <a:normAutofit/>
          </a:bodyPr>
          <a:lstStyle/>
          <a:p>
            <a:pPr>
              <a:buNone/>
              <a:defRPr sz="2625" b="1">
                <a:solidFill>
                  <a:srgbClr val="FFFFFF"/>
                </a:solidFill>
                <a:latin typeface="Hanken Grotesk"/>
                <a:ea typeface="Hanken Grotesk"/>
                <a:cs typeface="Hanken Grotesk"/>
              </a:defRPr>
            </a:pPr>
            <a:r>
              <a:rPr sz="2625"/>
              <a:t>The chosen tools balance speed, clarity and reproducibility</a:t>
            </a:r>
          </a:p>
        </p:txBody>
      </p:sp>
      <p:cxnSp>
        <p:nvCxnSpPr>
          <p:cNvPr id="72" name="title-rule-6"/>
          <p:cNvCxnSpPr/>
          <p:nvPr/>
        </p:nvCxnSpPr>
        <p:spPr>
          <a:xfrm>
            <a:off x="533400" y="1285875"/>
            <a:ext cx="11125200" cy="0"/>
          </a:xfrm>
          <a:prstGeom prst="straightConnector1">
            <a:avLst/>
          </a:prstGeom>
          <a:ln w="9525">
            <a:solidFill>
              <a:srgbClr val="282828"/>
            </a:solidFill>
            <a:prstDash val="solid"/>
          </a:ln>
        </p:spPr>
      </p:cxnSp>
      <p:sp>
        <p:nvSpPr>
          <p:cNvPr id="3" name="footer-6">
            <a:extLst>
              <a:ext uri="{FF2B5EF4-FFF2-40B4-BE49-F238E27FC236}">
                <a16:creationId xmlns:a16="http://schemas.microsoft.com/office/drawing/2014/main" id="{E56C4CCD-1536-4611-85A0-6F20D321D938}"/>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4 / 7</a:t>
            </a:r>
          </a:p>
        </p:txBody>
      </p:sp>
      <p:cxnSp>
        <p:nvCxnSpPr>
          <p:cNvPr id="74" name="quadrant-rule-6a"/>
          <p:cNvCxnSpPr/>
          <p:nvPr/>
        </p:nvCxnSpPr>
        <p:spPr>
          <a:xfrm>
            <a:off x="609600" y="1790700"/>
            <a:ext cx="4953000" cy="0"/>
          </a:xfrm>
          <a:prstGeom prst="straightConnector1">
            <a:avLst/>
          </a:prstGeom>
          <a:ln w="38100">
            <a:solidFill>
              <a:srgbClr val="FF5A1F"/>
            </a:solidFill>
            <a:prstDash val="solid"/>
          </a:ln>
        </p:spPr>
      </p:cxnSp>
      <p:sp>
        <p:nvSpPr>
          <p:cNvPr id="5" name="quadrant-heading-6a">
            <a:extLst>
              <a:ext uri="{FF2B5EF4-FFF2-40B4-BE49-F238E27FC236}">
                <a16:creationId xmlns:a16="http://schemas.microsoft.com/office/drawing/2014/main" id="{C2806EE7-90A9-4249-8F1D-35610E11E687}"/>
              </a:ext>
            </a:extLst>
          </p:cNvPr>
          <p:cNvSpPr>
            <a:spLocks noGrp="1"/>
          </p:cNvSpPr>
          <p:nvPr/>
        </p:nvSpPr>
        <p:spPr>
          <a:xfrm>
            <a:off x="609600" y="1962150"/>
            <a:ext cx="4953000" cy="400050"/>
          </a:xfrm>
          <a:prstGeom prst="rect">
            <a:avLst/>
          </a:prstGeom>
          <a:noFill/>
          <a:ln w="0">
            <a:noFill/>
            <a:prstDash val="solid"/>
          </a:ln>
        </p:spPr>
        <p:txBody>
          <a:bodyPr anchor="t">
            <a:normAutofit/>
          </a:bodyPr>
          <a:lstStyle/>
          <a:p>
            <a:pPr>
              <a:buNone/>
              <a:defRPr sz="2025" b="1">
                <a:solidFill>
                  <a:srgbClr val="FFFFFF"/>
                </a:solidFill>
                <a:latin typeface="Hanken Grotesk"/>
                <a:ea typeface="Hanken Grotesk"/>
                <a:cs typeface="Hanken Grotesk"/>
              </a:defRPr>
            </a:pPr>
            <a:r>
              <a:rPr sz="2025" b="1"/>
              <a:t>Pandas + Parquet</a:t>
            </a:r>
            <a:endParaRPr sz="2025" b="1">
              <a:solidFill>
                <a:srgbClr val="FFFFFF"/>
              </a:solidFill>
              <a:latin typeface="Hanken Grotesk"/>
              <a:ea typeface="Hanken Grotesk"/>
              <a:cs typeface="Hanken Grotesk"/>
            </a:endParaRPr>
          </a:p>
        </p:txBody>
      </p:sp>
      <p:sp>
        <p:nvSpPr>
          <p:cNvPr id="6" name="quadrant-body-6a">
            <a:extLst>
              <a:ext uri="{FF2B5EF4-FFF2-40B4-BE49-F238E27FC236}">
                <a16:creationId xmlns:a16="http://schemas.microsoft.com/office/drawing/2014/main" id="{8CB9A68E-88B0-4A2D-A8A1-FAEF14BD198E}"/>
              </a:ext>
            </a:extLst>
          </p:cNvPr>
          <p:cNvSpPr>
            <a:spLocks noGrp="1"/>
          </p:cNvSpPr>
          <p:nvPr/>
        </p:nvSpPr>
        <p:spPr>
          <a:xfrm>
            <a:off x="609600" y="2428875"/>
            <a:ext cx="4953000" cy="971550"/>
          </a:xfrm>
          <a:prstGeom prst="rect">
            <a:avLst/>
          </a:prstGeom>
          <a:noFill/>
          <a:ln w="0">
            <a:noFill/>
            <a:prstDash val="solid"/>
          </a:ln>
        </p:spPr>
        <p:txBody>
          <a:bodyPr anchor="t">
            <a:normAutofit/>
          </a:bodyPr>
          <a:lstStyle/>
          <a:p>
            <a:pPr>
              <a:lnSpc>
                <a:spcPct val="108000"/>
              </a:lnSpc>
              <a:buNone/>
              <a:defRPr sz="1575" b="0">
                <a:solidFill>
                  <a:srgbClr val="B4B4B4"/>
                </a:solidFill>
                <a:latin typeface="Hanken Grotesk"/>
                <a:ea typeface="Hanken Grotesk"/>
                <a:cs typeface="Hanken Grotesk"/>
              </a:defRPr>
            </a:pPr>
            <a:r>
              <a:rPr sz="1575"/>
              <a:t>Fast local transformations with typed, columnar files across Bronze, Silver and Gold.</a:t>
            </a:r>
            <a:endParaRPr sz="1575" b="0">
              <a:solidFill>
                <a:srgbClr val="B4B4B4"/>
              </a:solidFill>
              <a:latin typeface="Hanken Grotesk"/>
              <a:ea typeface="Hanken Grotesk"/>
              <a:cs typeface="Hanken Grotesk"/>
            </a:endParaRPr>
          </a:p>
        </p:txBody>
      </p:sp>
      <p:cxnSp>
        <p:nvCxnSpPr>
          <p:cNvPr id="77" name="quadrant-rule-6b"/>
          <p:cNvCxnSpPr/>
          <p:nvPr/>
        </p:nvCxnSpPr>
        <p:spPr>
          <a:xfrm>
            <a:off x="6629400" y="1790700"/>
            <a:ext cx="4953000" cy="0"/>
          </a:xfrm>
          <a:prstGeom prst="straightConnector1">
            <a:avLst/>
          </a:prstGeom>
          <a:ln w="38100">
            <a:solidFill>
              <a:srgbClr val="FF5A1F"/>
            </a:solidFill>
            <a:prstDash val="solid"/>
          </a:ln>
        </p:spPr>
      </p:cxnSp>
      <p:sp>
        <p:nvSpPr>
          <p:cNvPr id="8" name="quadrant-heading-6b">
            <a:extLst>
              <a:ext uri="{FF2B5EF4-FFF2-40B4-BE49-F238E27FC236}">
                <a16:creationId xmlns:a16="http://schemas.microsoft.com/office/drawing/2014/main" id="{0C60F54B-D121-4BFA-A2E7-55D4182793CC}"/>
              </a:ext>
            </a:extLst>
          </p:cNvPr>
          <p:cNvSpPr>
            <a:spLocks noGrp="1"/>
          </p:cNvSpPr>
          <p:nvPr/>
        </p:nvSpPr>
        <p:spPr>
          <a:xfrm>
            <a:off x="6629400" y="19621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dirty="0">
                <a:solidFill>
                  <a:srgbClr val="FFFFFF"/>
                </a:solidFill>
                <a:latin typeface="Hanken Grotesk"/>
                <a:ea typeface="Hanken Grotesk"/>
                <a:cs typeface="Hanken Grotesk"/>
              </a:rPr>
              <a:t>PostgreSQL + </a:t>
            </a:r>
            <a:r>
              <a:rPr sz="2025" b="1" dirty="0" err="1">
                <a:solidFill>
                  <a:srgbClr val="FFFFFF"/>
                </a:solidFill>
                <a:latin typeface="Hanken Grotesk"/>
                <a:ea typeface="Hanken Grotesk"/>
                <a:cs typeface="Hanken Grotesk"/>
              </a:rPr>
              <a:t>Metabase</a:t>
            </a:r>
            <a:endParaRPr sz="2025" b="1" dirty="0">
              <a:solidFill>
                <a:srgbClr val="FFFFFF"/>
              </a:solidFill>
              <a:latin typeface="Hanken Grotesk"/>
              <a:ea typeface="Hanken Grotesk"/>
              <a:cs typeface="Hanken Grotesk"/>
            </a:endParaRPr>
          </a:p>
        </p:txBody>
      </p:sp>
      <p:sp>
        <p:nvSpPr>
          <p:cNvPr id="9" name="quadrant-body-6b">
            <a:extLst>
              <a:ext uri="{FF2B5EF4-FFF2-40B4-BE49-F238E27FC236}">
                <a16:creationId xmlns:a16="http://schemas.microsoft.com/office/drawing/2014/main" id="{D2265047-3774-4581-8186-F9AAE16B905F}"/>
              </a:ext>
            </a:extLst>
          </p:cNvPr>
          <p:cNvSpPr>
            <a:spLocks noGrp="1"/>
          </p:cNvSpPr>
          <p:nvPr/>
        </p:nvSpPr>
        <p:spPr>
          <a:xfrm>
            <a:off x="6629400" y="2428875"/>
            <a:ext cx="4953000" cy="971550"/>
          </a:xfrm>
          <a:prstGeom prst="rect">
            <a:avLst/>
          </a:prstGeom>
          <a:noFill/>
          <a:ln w="0">
            <a:noFill/>
            <a:prstDash val="solid"/>
          </a:ln>
        </p:spPr>
        <p:txBody>
          <a:bodyPr anchor="t">
            <a:normAutofit/>
          </a:bodyPr>
          <a:lstStyle/>
          <a:p>
            <a:pPr>
              <a:lnSpc>
                <a:spcPct val="108000"/>
              </a:lnSpc>
              <a:defRPr sz="1575" b="0">
                <a:solidFill>
                  <a:srgbClr val="B4B4B4"/>
                </a:solidFill>
                <a:latin typeface="Hanken Grotesk"/>
                <a:ea typeface="Hanken Grotesk"/>
                <a:cs typeface="Hanken Grotesk"/>
              </a:defRPr>
            </a:pPr>
            <a:r>
              <a:rPr lang="en-US" sz="1575" dirty="0"/>
              <a:t>PostgreSQL stores the final metrics, while </a:t>
            </a:r>
            <a:r>
              <a:rPr lang="en-US" sz="1575" dirty="0" err="1"/>
              <a:t>Metabase</a:t>
            </a:r>
            <a:r>
              <a:rPr lang="en-US" sz="1575" dirty="0"/>
              <a:t> makes them accessible through operational dashboards.</a:t>
            </a:r>
            <a:endParaRPr sz="1575" b="0" dirty="0">
              <a:solidFill>
                <a:srgbClr val="B4B4B4"/>
              </a:solidFill>
              <a:latin typeface="Hanken Grotesk"/>
              <a:ea typeface="Hanken Grotesk"/>
              <a:cs typeface="Hanken Grotesk"/>
            </a:endParaRPr>
          </a:p>
        </p:txBody>
      </p:sp>
      <p:cxnSp>
        <p:nvCxnSpPr>
          <p:cNvPr id="80" name="quadrant-rule-6c"/>
          <p:cNvCxnSpPr/>
          <p:nvPr/>
        </p:nvCxnSpPr>
        <p:spPr>
          <a:xfrm>
            <a:off x="609600" y="4000500"/>
            <a:ext cx="4953000" cy="0"/>
          </a:xfrm>
          <a:prstGeom prst="straightConnector1">
            <a:avLst/>
          </a:prstGeom>
          <a:ln w="38100">
            <a:solidFill>
              <a:srgbClr val="FF5A1F"/>
            </a:solidFill>
            <a:prstDash val="solid"/>
          </a:ln>
        </p:spPr>
      </p:cxnSp>
      <p:sp>
        <p:nvSpPr>
          <p:cNvPr id="11" name="quadrant-heading-6c">
            <a:extLst>
              <a:ext uri="{FF2B5EF4-FFF2-40B4-BE49-F238E27FC236}">
                <a16:creationId xmlns:a16="http://schemas.microsoft.com/office/drawing/2014/main" id="{AF1190AC-00C4-49A7-B2BB-6D04DE9E0BEC}"/>
              </a:ext>
            </a:extLst>
          </p:cNvPr>
          <p:cNvSpPr>
            <a:spLocks noGrp="1"/>
          </p:cNvSpPr>
          <p:nvPr/>
        </p:nvSpPr>
        <p:spPr>
          <a:xfrm>
            <a:off x="609600" y="41719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Docker Compose</a:t>
            </a:r>
          </a:p>
        </p:txBody>
      </p:sp>
      <p:sp>
        <p:nvSpPr>
          <p:cNvPr id="12" name="quadrant-body-6c">
            <a:extLst>
              <a:ext uri="{FF2B5EF4-FFF2-40B4-BE49-F238E27FC236}">
                <a16:creationId xmlns:a16="http://schemas.microsoft.com/office/drawing/2014/main" id="{C45B6A4C-90F0-469A-B1CB-3C7629393D8F}"/>
              </a:ext>
            </a:extLst>
          </p:cNvPr>
          <p:cNvSpPr>
            <a:spLocks noGrp="1"/>
          </p:cNvSpPr>
          <p:nvPr/>
        </p:nvSpPr>
        <p:spPr>
          <a:xfrm>
            <a:off x="609600" y="4638675"/>
            <a:ext cx="4953000" cy="971550"/>
          </a:xfrm>
          <a:prstGeom prst="rect">
            <a:avLst/>
          </a:prstGeom>
          <a:noFill/>
          <a:ln w="0">
            <a:noFill/>
            <a:prstDash val="solid"/>
          </a:ln>
        </p:spPr>
        <p:txBody>
          <a:bodyPr anchor="t">
            <a:normAutofit/>
          </a:bodyPr>
          <a:lstStyle/>
          <a:p>
            <a:pPr>
              <a:lnSpc>
                <a:spcPct val="108000"/>
              </a:lnSpc>
              <a:defRPr sz="1575" b="0">
                <a:solidFill>
                  <a:srgbClr val="B4B4B4"/>
                </a:solidFill>
                <a:latin typeface="Hanken Grotesk"/>
                <a:ea typeface="Hanken Grotesk"/>
                <a:cs typeface="Hanken Grotesk"/>
              </a:defRPr>
            </a:pPr>
            <a:r>
              <a:rPr lang="en-US" sz="1575" dirty="0"/>
              <a:t>Docker Compose starts PostgreSQL and </a:t>
            </a:r>
            <a:r>
              <a:rPr lang="en-US" sz="1575" dirty="0" err="1"/>
              <a:t>Metabase</a:t>
            </a:r>
            <a:r>
              <a:rPr lang="en-US" sz="1575" dirty="0"/>
              <a:t> consistently, while named volumes preserve their data and configurations between restarts.</a:t>
            </a:r>
            <a:endParaRPr sz="1575" b="0" dirty="0">
              <a:solidFill>
                <a:srgbClr val="B4B4B4"/>
              </a:solidFill>
              <a:latin typeface="Hanken Grotesk"/>
              <a:ea typeface="Hanken Grotesk"/>
              <a:cs typeface="Hanken Grotesk"/>
            </a:endParaRPr>
          </a:p>
        </p:txBody>
      </p:sp>
      <p:pic>
        <p:nvPicPr>
          <p:cNvPr id="86" name="Picture 57"/>
          <p:cNvPicPr>
            <a:picLocks noChangeAspect="1"/>
          </p:cNvPicPr>
          <p:nvPr/>
        </p:nvPicPr>
        <p:blipFill>
          <a:blip r:embed="rId3"/>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2118171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14" name="slide-title-4">
            <a:extLst>
              <a:ext uri="{FF2B5EF4-FFF2-40B4-BE49-F238E27FC236}">
                <a16:creationId xmlns:a16="http://schemas.microsoft.com/office/drawing/2014/main" id="{4C73851E-50D2-4F2C-A357-0A338DAA3599}"/>
              </a:ext>
            </a:extLst>
          </p:cNvPr>
          <p:cNvSpPr>
            <a:spLocks noGrp="1"/>
          </p:cNvSpPr>
          <p:nvPr/>
        </p:nvSpPr>
        <p:spPr>
          <a:xfrm>
            <a:off x="533400" y="381000"/>
            <a:ext cx="11125200" cy="838200"/>
          </a:xfrm>
          <a:prstGeom prst="rect">
            <a:avLst/>
          </a:prstGeom>
          <a:noFill/>
          <a:ln w="0">
            <a:noFill/>
            <a:prstDash val="solid"/>
          </a:ln>
        </p:spPr>
        <p:txBody>
          <a:bodyPr anchor="t">
            <a:normAutofit/>
          </a:bodyPr>
          <a:lstStyle/>
          <a:p>
            <a:pPr algn="l">
              <a:buNone/>
              <a:defRPr sz="2625" b="1">
                <a:solidFill>
                  <a:srgbClr val="FFFFFF"/>
                </a:solidFill>
                <a:latin typeface="Hanken Grotesk"/>
                <a:ea typeface="Hanken Grotesk"/>
                <a:cs typeface="Hanken Grotesk"/>
              </a:defRPr>
            </a:pPr>
            <a:r>
              <a:rPr sz="2625" b="1">
                <a:solidFill>
                  <a:srgbClr val="FFFFFF"/>
                </a:solidFill>
                <a:latin typeface="Hanken Grotesk"/>
                <a:ea typeface="Hanken Grotesk"/>
                <a:cs typeface="Hanken Grotesk"/>
              </a:rPr>
              <a:t>The score combines two metrics</a:t>
            </a:r>
          </a:p>
        </p:txBody>
      </p:sp>
      <p:cxnSp>
        <p:nvCxnSpPr>
          <p:cNvPr id="50" name="title-rule-4"/>
          <p:cNvCxnSpPr/>
          <p:nvPr/>
        </p:nvCxnSpPr>
        <p:spPr>
          <a:xfrm>
            <a:off x="533400" y="1285875"/>
            <a:ext cx="11125200" cy="0"/>
          </a:xfrm>
          <a:prstGeom prst="straightConnector1">
            <a:avLst/>
          </a:prstGeom>
          <a:ln w="9525">
            <a:solidFill>
              <a:srgbClr val="282828"/>
            </a:solidFill>
            <a:prstDash val="solid"/>
          </a:ln>
        </p:spPr>
      </p:cxnSp>
      <p:sp>
        <p:nvSpPr>
          <p:cNvPr id="3" name="footer-4">
            <a:extLst>
              <a:ext uri="{FF2B5EF4-FFF2-40B4-BE49-F238E27FC236}">
                <a16:creationId xmlns:a16="http://schemas.microsoft.com/office/drawing/2014/main" id="{38DB7063-5578-4199-B2A9-DB40F7CB3B64}"/>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5 / 7</a:t>
            </a:r>
          </a:p>
        </p:txBody>
      </p:sp>
      <p:sp>
        <p:nvSpPr>
          <p:cNvPr id="4" name="score-assumption-label">
            <a:extLst>
              <a:ext uri="{FF2B5EF4-FFF2-40B4-BE49-F238E27FC236}">
                <a16:creationId xmlns:a16="http://schemas.microsoft.com/office/drawing/2014/main" id="{0E54F8E1-40A7-4DE8-8A3C-5DB3F154EF0A}"/>
              </a:ext>
            </a:extLst>
          </p:cNvPr>
          <p:cNvSpPr>
            <a:spLocks noGrp="1"/>
          </p:cNvSpPr>
          <p:nvPr/>
        </p:nvSpPr>
        <p:spPr>
          <a:xfrm>
            <a:off x="609600" y="1638300"/>
            <a:ext cx="4095750" cy="266700"/>
          </a:xfrm>
          <a:prstGeom prst="rect">
            <a:avLst/>
          </a:prstGeom>
          <a:noFill/>
          <a:ln w="0">
            <a:noFill/>
            <a:prstDash val="solid"/>
          </a:ln>
        </p:spPr>
        <p:txBody>
          <a:bodyPr anchor="t">
            <a:noAutofit/>
          </a:bodyPr>
          <a:lstStyle/>
          <a:p>
            <a:pPr algn="l">
              <a:buNone/>
              <a:defRPr sz="1200" b="1">
                <a:solidFill>
                  <a:srgbClr val="FF5A1F"/>
                </a:solidFill>
                <a:latin typeface="Hanken Grotesk"/>
                <a:ea typeface="Hanken Grotesk"/>
                <a:cs typeface="Hanken Grotesk"/>
              </a:defRPr>
            </a:pPr>
            <a:r>
              <a:rPr sz="1200" b="1">
                <a:solidFill>
                  <a:srgbClr val="FF5A1F"/>
                </a:solidFill>
                <a:latin typeface="Hanken Grotesk"/>
                <a:ea typeface="Hanken Grotesk"/>
                <a:cs typeface="Hanken Grotesk"/>
              </a:rPr>
              <a:t>CURRENT ANALYTICAL ASSUMPTION</a:t>
            </a:r>
          </a:p>
        </p:txBody>
      </p:sp>
      <p:cxnSp>
        <p:nvCxnSpPr>
          <p:cNvPr id="53" name="score-left-rule"/>
          <p:cNvCxnSpPr/>
          <p:nvPr/>
        </p:nvCxnSpPr>
        <p:spPr>
          <a:xfrm>
            <a:off x="609600" y="2171700"/>
            <a:ext cx="4762500" cy="0"/>
          </a:xfrm>
          <a:prstGeom prst="straightConnector1">
            <a:avLst/>
          </a:prstGeom>
          <a:ln w="38100">
            <a:solidFill>
              <a:srgbClr val="FF5A1F"/>
            </a:solidFill>
            <a:prstDash val="solid"/>
          </a:ln>
        </p:spPr>
      </p:cxnSp>
      <p:sp>
        <p:nvSpPr>
          <p:cNvPr id="6" name="score-left-title">
            <a:extLst>
              <a:ext uri="{FF2B5EF4-FFF2-40B4-BE49-F238E27FC236}">
                <a16:creationId xmlns:a16="http://schemas.microsoft.com/office/drawing/2014/main" id="{C91E8B6A-ED64-41BB-9D08-8D942D3312BE}"/>
              </a:ext>
            </a:extLst>
          </p:cNvPr>
          <p:cNvSpPr>
            <a:spLocks noGrp="1"/>
          </p:cNvSpPr>
          <p:nvPr/>
        </p:nvSpPr>
        <p:spPr>
          <a:xfrm>
            <a:off x="609600" y="2362200"/>
            <a:ext cx="4762500" cy="495300"/>
          </a:xfrm>
          <a:prstGeom prst="rect">
            <a:avLst/>
          </a:prstGeom>
          <a:noFill/>
          <a:ln w="0">
            <a:noFill/>
            <a:prstDash val="solid"/>
          </a:ln>
        </p:spPr>
        <p:txBody>
          <a:bodyPr anchor="t">
            <a:normAutofit/>
          </a:bodyPr>
          <a:lstStyle/>
          <a:p>
            <a:pPr algn="l">
              <a:buNone/>
              <a:defRPr sz="2250" b="1">
                <a:solidFill>
                  <a:srgbClr val="FFFFFF"/>
                </a:solidFill>
                <a:latin typeface="Hanken Grotesk"/>
                <a:ea typeface="Hanken Grotesk"/>
                <a:cs typeface="Hanken Grotesk"/>
              </a:defRPr>
            </a:pPr>
            <a:r>
              <a:rPr sz="2250" b="1">
                <a:solidFill>
                  <a:srgbClr val="FFFFFF"/>
                </a:solidFill>
                <a:latin typeface="Hanken Grotesk"/>
                <a:ea typeface="Hanken Grotesk"/>
                <a:cs typeface="Hanken Grotesk"/>
              </a:rPr>
              <a:t>50%  No-response risk</a:t>
            </a:r>
          </a:p>
        </p:txBody>
      </p:sp>
      <p:sp>
        <p:nvSpPr>
          <p:cNvPr id="7" name="score-left-body">
            <a:extLst>
              <a:ext uri="{FF2B5EF4-FFF2-40B4-BE49-F238E27FC236}">
                <a16:creationId xmlns:a16="http://schemas.microsoft.com/office/drawing/2014/main" id="{239DA4DE-4F61-41EE-8908-B3D998CBC1A8}"/>
              </a:ext>
            </a:extLst>
          </p:cNvPr>
          <p:cNvSpPr>
            <a:spLocks noGrp="1"/>
          </p:cNvSpPr>
          <p:nvPr/>
        </p:nvSpPr>
        <p:spPr>
          <a:xfrm>
            <a:off x="609600" y="3028950"/>
            <a:ext cx="4762500" cy="1104900"/>
          </a:xfrm>
          <a:prstGeom prst="rect">
            <a:avLst/>
          </a:prstGeom>
          <a:noFill/>
          <a:ln w="0">
            <a:noFill/>
            <a:prstDash val="solid"/>
          </a:ln>
        </p:spPr>
        <p:txBody>
          <a:bodyPr anchor="t">
            <a:normAutofit/>
          </a:bodyPr>
          <a:lstStyle/>
          <a:p>
            <a:pPr algn="l">
              <a:lnSpc>
                <a:spcPct val="108000"/>
              </a:lnSpc>
              <a:buNone/>
              <a:defRPr sz="1650" b="0">
                <a:solidFill>
                  <a:srgbClr val="B4B4B4"/>
                </a:solidFill>
                <a:latin typeface="Hanken Grotesk"/>
                <a:ea typeface="Hanken Grotesk"/>
                <a:cs typeface="Hanken Grotesk"/>
              </a:defRPr>
            </a:pPr>
            <a:r>
              <a:rPr sz="1650" b="0">
                <a:solidFill>
                  <a:srgbClr val="B4B4B4"/>
                </a:solidFill>
                <a:latin typeface="Hanken Grotesk"/>
                <a:ea typeface="Hanken Grotesk"/>
                <a:cs typeface="Hanken Grotesk"/>
              </a:rPr>
              <a:t>1 − response rate</a:t>
            </a:r>
          </a:p>
          <a:p>
            <a:endParaRPr sz="1650" b="0">
              <a:solidFill>
                <a:srgbClr val="B4B4B4"/>
              </a:solidFill>
              <a:latin typeface="Hanken Grotesk"/>
              <a:ea typeface="Hanken Grotesk"/>
              <a:cs typeface="Hanken Grotesk"/>
            </a:endParaRPr>
          </a:p>
          <a:p>
            <a:pPr algn="l">
              <a:lnSpc>
                <a:spcPct val="108000"/>
              </a:lnSpc>
              <a:buNone/>
              <a:defRPr sz="1650" b="0">
                <a:solidFill>
                  <a:srgbClr val="B4B4B4"/>
                </a:solidFill>
                <a:latin typeface="Hanken Grotesk"/>
                <a:ea typeface="Hanken Grotesk"/>
                <a:cs typeface="Hanken Grotesk"/>
              </a:defRPr>
            </a:pPr>
            <a:r>
              <a:rPr sz="1650" b="0">
                <a:solidFill>
                  <a:srgbClr val="B4B4B4"/>
                </a:solidFill>
                <a:latin typeface="Hanken Grotesk"/>
                <a:ea typeface="Hanken Grotesk"/>
                <a:cs typeface="Hanken Grotesk"/>
              </a:rPr>
              <a:t>More unanswered messages → higher risk</a:t>
            </a:r>
          </a:p>
        </p:txBody>
      </p:sp>
      <p:cxnSp>
        <p:nvCxnSpPr>
          <p:cNvPr id="56" name="score-right-rule"/>
          <p:cNvCxnSpPr/>
          <p:nvPr/>
        </p:nvCxnSpPr>
        <p:spPr>
          <a:xfrm>
            <a:off x="6819900" y="2171700"/>
            <a:ext cx="4762500" cy="0"/>
          </a:xfrm>
          <a:prstGeom prst="straightConnector1">
            <a:avLst/>
          </a:prstGeom>
          <a:ln w="38100">
            <a:solidFill>
              <a:srgbClr val="FF5A1F"/>
            </a:solidFill>
            <a:prstDash val="solid"/>
          </a:ln>
        </p:spPr>
      </p:cxnSp>
      <p:sp>
        <p:nvSpPr>
          <p:cNvPr id="9" name="score-right-title">
            <a:extLst>
              <a:ext uri="{FF2B5EF4-FFF2-40B4-BE49-F238E27FC236}">
                <a16:creationId xmlns:a16="http://schemas.microsoft.com/office/drawing/2014/main" id="{CE2600DE-5184-4295-A1DF-30FF50793207}"/>
              </a:ext>
            </a:extLst>
          </p:cNvPr>
          <p:cNvSpPr>
            <a:spLocks noGrp="1"/>
          </p:cNvSpPr>
          <p:nvPr/>
        </p:nvSpPr>
        <p:spPr>
          <a:xfrm>
            <a:off x="6819900" y="2362200"/>
            <a:ext cx="4762500" cy="495300"/>
          </a:xfrm>
          <a:prstGeom prst="rect">
            <a:avLst/>
          </a:prstGeom>
          <a:noFill/>
          <a:ln w="0">
            <a:noFill/>
            <a:prstDash val="solid"/>
          </a:ln>
        </p:spPr>
        <p:txBody>
          <a:bodyPr anchor="t">
            <a:normAutofit/>
          </a:bodyPr>
          <a:lstStyle/>
          <a:p>
            <a:pPr algn="l">
              <a:buNone/>
              <a:defRPr sz="2250" b="1">
                <a:solidFill>
                  <a:srgbClr val="FFFFFF"/>
                </a:solidFill>
                <a:latin typeface="Hanken Grotesk"/>
                <a:ea typeface="Hanken Grotesk"/>
                <a:cs typeface="Hanken Grotesk"/>
              </a:defRPr>
            </a:pPr>
            <a:r>
              <a:rPr sz="2250" b="1">
                <a:solidFill>
                  <a:srgbClr val="FFFFFF"/>
                </a:solidFill>
                <a:latin typeface="Hanken Grotesk"/>
                <a:ea typeface="Hanken Grotesk"/>
                <a:cs typeface="Hanken Grotesk"/>
              </a:rPr>
              <a:t>50%  Response-delay risk</a:t>
            </a:r>
          </a:p>
        </p:txBody>
      </p:sp>
      <p:sp>
        <p:nvSpPr>
          <p:cNvPr id="10" name="score-right-body">
            <a:extLst>
              <a:ext uri="{FF2B5EF4-FFF2-40B4-BE49-F238E27FC236}">
                <a16:creationId xmlns:a16="http://schemas.microsoft.com/office/drawing/2014/main" id="{E10E6BEA-BE61-42E4-9813-330CE2E67654}"/>
              </a:ext>
            </a:extLst>
          </p:cNvPr>
          <p:cNvSpPr>
            <a:spLocks noGrp="1"/>
          </p:cNvSpPr>
          <p:nvPr/>
        </p:nvSpPr>
        <p:spPr>
          <a:xfrm>
            <a:off x="6819900" y="3028950"/>
            <a:ext cx="4762500" cy="1104900"/>
          </a:xfrm>
          <a:prstGeom prst="rect">
            <a:avLst/>
          </a:prstGeom>
          <a:noFill/>
          <a:ln w="0">
            <a:noFill/>
            <a:prstDash val="solid"/>
          </a:ln>
        </p:spPr>
        <p:txBody>
          <a:bodyPr anchor="t">
            <a:normAutofit/>
          </a:bodyPr>
          <a:lstStyle/>
          <a:p>
            <a:pPr algn="l">
              <a:lnSpc>
                <a:spcPct val="108000"/>
              </a:lnSpc>
              <a:buNone/>
              <a:defRPr sz="1650" b="0">
                <a:solidFill>
                  <a:srgbClr val="B4B4B4"/>
                </a:solidFill>
                <a:latin typeface="Hanken Grotesk"/>
                <a:ea typeface="Hanken Grotesk"/>
                <a:cs typeface="Hanken Grotesk"/>
              </a:defRPr>
            </a:pPr>
            <a:r>
              <a:rPr sz="1650" b="0">
                <a:solidFill>
                  <a:srgbClr val="B4B4B4"/>
                </a:solidFill>
                <a:latin typeface="Hanken Grotesk"/>
                <a:ea typeface="Hanken Grotesk"/>
                <a:cs typeface="Hanken Grotesk"/>
              </a:rPr>
              <a:t>Percentile of average response time</a:t>
            </a:r>
          </a:p>
          <a:p>
            <a:endParaRPr sz="1650" b="0">
              <a:solidFill>
                <a:srgbClr val="B4B4B4"/>
              </a:solidFill>
              <a:latin typeface="Hanken Grotesk"/>
              <a:ea typeface="Hanken Grotesk"/>
              <a:cs typeface="Hanken Grotesk"/>
            </a:endParaRPr>
          </a:p>
          <a:p>
            <a:pPr algn="l">
              <a:lnSpc>
                <a:spcPct val="108000"/>
              </a:lnSpc>
              <a:buNone/>
              <a:defRPr sz="1650" b="0">
                <a:solidFill>
                  <a:srgbClr val="B4B4B4"/>
                </a:solidFill>
                <a:latin typeface="Hanken Grotesk"/>
                <a:ea typeface="Hanken Grotesk"/>
                <a:cs typeface="Hanken Grotesk"/>
              </a:defRPr>
            </a:pPr>
            <a:r>
              <a:rPr sz="1650" b="0">
                <a:solidFill>
                  <a:srgbClr val="B4B4B4"/>
                </a:solidFill>
                <a:latin typeface="Hanken Grotesk"/>
                <a:ea typeface="Hanken Grotesk"/>
                <a:cs typeface="Hanken Grotesk"/>
              </a:rPr>
              <a:t>Slower replies → higher risk</a:t>
            </a:r>
          </a:p>
        </p:txBody>
      </p:sp>
      <p:sp>
        <p:nvSpPr>
          <p:cNvPr id="11" name="score-formula-band">
            <a:extLst>
              <a:ext uri="{FF2B5EF4-FFF2-40B4-BE49-F238E27FC236}">
                <a16:creationId xmlns:a16="http://schemas.microsoft.com/office/drawing/2014/main" id="{910CC505-6861-46AA-860A-CD0449A6E589}"/>
              </a:ext>
            </a:extLst>
          </p:cNvPr>
          <p:cNvSpPr>
            <a:spLocks noGrp="1"/>
          </p:cNvSpPr>
          <p:nvPr/>
        </p:nvSpPr>
        <p:spPr>
          <a:xfrm>
            <a:off x="609600" y="4686300"/>
            <a:ext cx="10972800" cy="1047750"/>
          </a:xfrm>
          <a:prstGeom prst="roundRect">
            <a:avLst>
              <a:gd name="adj" fmla="val 14545"/>
            </a:avLst>
          </a:prstGeom>
          <a:solidFill>
            <a:srgbClr val="161616"/>
          </a:solidFill>
          <a:ln w="9525">
            <a:solidFill>
              <a:srgbClr val="FF5A1F"/>
            </a:solidFill>
            <a:prstDash val="solid"/>
          </a:ln>
        </p:spPr>
      </p:sp>
      <p:sp>
        <p:nvSpPr>
          <p:cNvPr id="12" name="score-formula">
            <a:extLst>
              <a:ext uri="{FF2B5EF4-FFF2-40B4-BE49-F238E27FC236}">
                <a16:creationId xmlns:a16="http://schemas.microsoft.com/office/drawing/2014/main" id="{B5DD4BD3-BFDC-403D-A5F5-D0231F9A4858}"/>
              </a:ext>
            </a:extLst>
          </p:cNvPr>
          <p:cNvSpPr>
            <a:spLocks noGrp="1"/>
          </p:cNvSpPr>
          <p:nvPr/>
        </p:nvSpPr>
        <p:spPr>
          <a:xfrm>
            <a:off x="876300" y="4895850"/>
            <a:ext cx="10439400" cy="457200"/>
          </a:xfrm>
          <a:prstGeom prst="rect">
            <a:avLst/>
          </a:prstGeom>
          <a:noFill/>
          <a:ln w="0">
            <a:noFill/>
            <a:prstDash val="solid"/>
          </a:ln>
        </p:spPr>
        <p:txBody>
          <a:bodyPr anchor="t">
            <a:normAutofit/>
          </a:bodyPr>
          <a:lstStyle/>
          <a:p>
            <a:pPr algn="ctr">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Risk Score = 100 × (0.50 × non-response risk + 0.50 × delay risk)</a:t>
            </a:r>
          </a:p>
        </p:txBody>
      </p:sp>
      <p:sp>
        <p:nvSpPr>
          <p:cNvPr id="13" name="score-guardrail">
            <a:extLst>
              <a:ext uri="{FF2B5EF4-FFF2-40B4-BE49-F238E27FC236}">
                <a16:creationId xmlns:a16="http://schemas.microsoft.com/office/drawing/2014/main" id="{303234FB-9BED-4B82-904C-79836B9F6343}"/>
              </a:ext>
            </a:extLst>
          </p:cNvPr>
          <p:cNvSpPr>
            <a:spLocks noGrp="1"/>
          </p:cNvSpPr>
          <p:nvPr/>
        </p:nvSpPr>
        <p:spPr>
          <a:xfrm>
            <a:off x="1143000" y="5429250"/>
            <a:ext cx="9906000" cy="266700"/>
          </a:xfrm>
          <a:prstGeom prst="rect">
            <a:avLst/>
          </a:prstGeom>
          <a:noFill/>
          <a:ln w="0">
            <a:noFill/>
            <a:prstDash val="solid"/>
          </a:ln>
        </p:spPr>
        <p:txBody>
          <a:bodyPr anchor="t">
            <a:noAutofit/>
          </a:bodyPr>
          <a:lstStyle/>
          <a:p>
            <a:pPr algn="ctr">
              <a:buNone/>
              <a:defRPr sz="1200" b="0">
                <a:solidFill>
                  <a:srgbClr val="B4B4B4"/>
                </a:solidFill>
                <a:latin typeface="Hanken Grotesk"/>
                <a:ea typeface="Hanken Grotesk"/>
                <a:cs typeface="Hanken Grotesk"/>
              </a:defRPr>
            </a:pPr>
            <a:r>
              <a:rPr sz="1200" b="0">
                <a:solidFill>
                  <a:srgbClr val="B4B4B4"/>
                </a:solidFill>
                <a:latin typeface="Hanken Grotesk"/>
                <a:ea typeface="Hanken Grotesk"/>
                <a:cs typeface="Hanken Grotesk"/>
              </a:rPr>
              <a:t>At least 10 records  •  No responses = 100  •  Higher score = greater responsiveness risk</a:t>
            </a:r>
          </a:p>
        </p:txBody>
      </p:sp>
      <p:pic>
        <p:nvPicPr>
          <p:cNvPr id="62" name="Picture 43"/>
          <p:cNvPicPr>
            <a:picLocks noChangeAspect="1"/>
          </p:cNvPicPr>
          <p:nvPr/>
        </p:nvPicPr>
        <p:blipFill>
          <a:blip r:embed="rId3"/>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143392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14" name="slide-title-5">
            <a:extLst>
              <a:ext uri="{FF2B5EF4-FFF2-40B4-BE49-F238E27FC236}">
                <a16:creationId xmlns:a16="http://schemas.microsoft.com/office/drawing/2014/main" id="{7D11DE27-9A47-4D46-8768-29D92B38E7B1}"/>
              </a:ext>
            </a:extLst>
          </p:cNvPr>
          <p:cNvSpPr>
            <a:spLocks noGrp="1"/>
          </p:cNvSpPr>
          <p:nvPr/>
        </p:nvSpPr>
        <p:spPr>
          <a:xfrm>
            <a:off x="533400" y="381000"/>
            <a:ext cx="11125200" cy="838200"/>
          </a:xfrm>
          <a:prstGeom prst="rect">
            <a:avLst/>
          </a:prstGeom>
          <a:noFill/>
          <a:ln w="0">
            <a:noFill/>
            <a:prstDash val="solid"/>
          </a:ln>
        </p:spPr>
        <p:txBody>
          <a:bodyPr anchor="t">
            <a:normAutofit/>
          </a:bodyPr>
          <a:lstStyle/>
          <a:p>
            <a:pPr algn="l">
              <a:buNone/>
              <a:defRPr sz="2625" b="1">
                <a:solidFill>
                  <a:srgbClr val="FFFFFF"/>
                </a:solidFill>
                <a:latin typeface="Hanken Grotesk"/>
                <a:ea typeface="Hanken Grotesk"/>
                <a:cs typeface="Hanken Grotesk"/>
              </a:defRPr>
            </a:pPr>
            <a:r>
              <a:rPr sz="2625" b="1">
                <a:solidFill>
                  <a:srgbClr val="FFFFFF"/>
                </a:solidFill>
                <a:latin typeface="Hanken Grotesk"/>
                <a:ea typeface="Hanken Grotesk"/>
                <a:cs typeface="Hanken Grotesk"/>
              </a:rPr>
              <a:t>The dashboard helps operations prioritize</a:t>
            </a:r>
          </a:p>
        </p:txBody>
      </p:sp>
      <p:cxnSp>
        <p:nvCxnSpPr>
          <p:cNvPr id="64" name="title-rule-5"/>
          <p:cNvCxnSpPr/>
          <p:nvPr/>
        </p:nvCxnSpPr>
        <p:spPr>
          <a:xfrm>
            <a:off x="533400" y="1285875"/>
            <a:ext cx="11125200" cy="0"/>
          </a:xfrm>
          <a:prstGeom prst="straightConnector1">
            <a:avLst/>
          </a:prstGeom>
          <a:ln w="9525">
            <a:solidFill>
              <a:srgbClr val="282828"/>
            </a:solidFill>
            <a:prstDash val="solid"/>
          </a:ln>
        </p:spPr>
      </p:cxnSp>
      <p:sp>
        <p:nvSpPr>
          <p:cNvPr id="3" name="footer-5">
            <a:extLst>
              <a:ext uri="{FF2B5EF4-FFF2-40B4-BE49-F238E27FC236}">
                <a16:creationId xmlns:a16="http://schemas.microsoft.com/office/drawing/2014/main" id="{B0B44ED2-5D10-4F0F-B084-AF959F1B2C97}"/>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6 / 7</a:t>
            </a:r>
          </a:p>
        </p:txBody>
      </p:sp>
      <p:cxnSp>
        <p:nvCxnSpPr>
          <p:cNvPr id="66" name="dashboard-callout-rule-1"/>
          <p:cNvCxnSpPr/>
          <p:nvPr/>
        </p:nvCxnSpPr>
        <p:spPr>
          <a:xfrm>
            <a:off x="7810500" y="1847850"/>
            <a:ext cx="3619500" cy="0"/>
          </a:xfrm>
          <a:prstGeom prst="straightConnector1">
            <a:avLst/>
          </a:prstGeom>
          <a:ln w="38100">
            <a:solidFill>
              <a:srgbClr val="FF5A1F"/>
            </a:solidFill>
            <a:prstDash val="solid"/>
          </a:ln>
        </p:spPr>
      </p:cxnSp>
      <p:sp>
        <p:nvSpPr>
          <p:cNvPr id="6" name="dashboard-callout-title-1">
            <a:extLst>
              <a:ext uri="{FF2B5EF4-FFF2-40B4-BE49-F238E27FC236}">
                <a16:creationId xmlns:a16="http://schemas.microsoft.com/office/drawing/2014/main" id="{69BBE70F-EF73-457D-869C-47745D6D8AA4}"/>
              </a:ext>
            </a:extLst>
          </p:cNvPr>
          <p:cNvSpPr>
            <a:spLocks noGrp="1"/>
          </p:cNvSpPr>
          <p:nvPr/>
        </p:nvSpPr>
        <p:spPr>
          <a:xfrm>
            <a:off x="7810500" y="2038350"/>
            <a:ext cx="3619500" cy="361950"/>
          </a:xfrm>
          <a:prstGeom prst="rect">
            <a:avLst/>
          </a:prstGeom>
          <a:noFill/>
          <a:ln w="0">
            <a:noFill/>
            <a:prstDash val="solid"/>
          </a:ln>
        </p:spPr>
        <p:txBody>
          <a:bodyPr anchor="t">
            <a:normAutofit fontScale="94667" lnSpcReduction="10000"/>
          </a:bodyPr>
          <a:lstStyle/>
          <a:p>
            <a:pPr algn="l">
              <a:buNone/>
              <a:defRPr sz="1875" b="1">
                <a:solidFill>
                  <a:srgbClr val="FFFFFF"/>
                </a:solidFill>
                <a:latin typeface="Hanken Grotesk"/>
                <a:ea typeface="Hanken Grotesk"/>
                <a:cs typeface="Hanken Grotesk"/>
              </a:defRPr>
            </a:pPr>
            <a:r>
              <a:rPr sz="1875" b="1">
                <a:solidFill>
                  <a:srgbClr val="FFFFFF"/>
                </a:solidFill>
                <a:latin typeface="Hanken Grotesk"/>
                <a:ea typeface="Hanken Grotesk"/>
                <a:cs typeface="Hanken Grotesk"/>
              </a:rPr>
              <a:t>Prioritize</a:t>
            </a:r>
          </a:p>
        </p:txBody>
      </p:sp>
      <p:sp>
        <p:nvSpPr>
          <p:cNvPr id="7" name="dashboard-callout-body-1">
            <a:extLst>
              <a:ext uri="{FF2B5EF4-FFF2-40B4-BE49-F238E27FC236}">
                <a16:creationId xmlns:a16="http://schemas.microsoft.com/office/drawing/2014/main" id="{FF42E695-9FDA-40B1-8CE0-A854A307B193}"/>
              </a:ext>
            </a:extLst>
          </p:cNvPr>
          <p:cNvSpPr>
            <a:spLocks noGrp="1"/>
          </p:cNvSpPr>
          <p:nvPr/>
        </p:nvSpPr>
        <p:spPr>
          <a:xfrm>
            <a:off x="7810500" y="2476500"/>
            <a:ext cx="3619500" cy="552450"/>
          </a:xfrm>
          <a:prstGeom prst="rect">
            <a:avLst/>
          </a:prstGeom>
          <a:noFill/>
          <a:ln w="0">
            <a:noFill/>
            <a:prstDash val="solid"/>
          </a:ln>
        </p:spPr>
        <p:txBody>
          <a:bodyPr anchor="t">
            <a:normAutofit/>
          </a:bodyPr>
          <a:lstStyle/>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Carrier 124 currently ranks highest at 70.0.</a:t>
            </a:r>
          </a:p>
        </p:txBody>
      </p:sp>
      <p:cxnSp>
        <p:nvCxnSpPr>
          <p:cNvPr id="69" name="dashboard-callout-rule-2"/>
          <p:cNvCxnSpPr/>
          <p:nvPr/>
        </p:nvCxnSpPr>
        <p:spPr>
          <a:xfrm>
            <a:off x="7810500" y="3257550"/>
            <a:ext cx="3619500" cy="0"/>
          </a:xfrm>
          <a:prstGeom prst="straightConnector1">
            <a:avLst/>
          </a:prstGeom>
          <a:ln w="38100">
            <a:solidFill>
              <a:srgbClr val="FF5A1F"/>
            </a:solidFill>
            <a:prstDash val="solid"/>
          </a:ln>
        </p:spPr>
      </p:cxnSp>
      <p:sp>
        <p:nvSpPr>
          <p:cNvPr id="9" name="dashboard-callout-title-2">
            <a:extLst>
              <a:ext uri="{FF2B5EF4-FFF2-40B4-BE49-F238E27FC236}">
                <a16:creationId xmlns:a16="http://schemas.microsoft.com/office/drawing/2014/main" id="{C13643AA-A2F2-4731-879A-93C0DF1D6AF8}"/>
              </a:ext>
            </a:extLst>
          </p:cNvPr>
          <p:cNvSpPr>
            <a:spLocks noGrp="1"/>
          </p:cNvSpPr>
          <p:nvPr/>
        </p:nvSpPr>
        <p:spPr>
          <a:xfrm>
            <a:off x="7810500" y="3448050"/>
            <a:ext cx="3619500" cy="361950"/>
          </a:xfrm>
          <a:prstGeom prst="rect">
            <a:avLst/>
          </a:prstGeom>
          <a:noFill/>
          <a:ln w="0">
            <a:noFill/>
            <a:prstDash val="solid"/>
          </a:ln>
        </p:spPr>
        <p:txBody>
          <a:bodyPr anchor="t">
            <a:normAutofit fontScale="94667" lnSpcReduction="10000"/>
          </a:bodyPr>
          <a:lstStyle/>
          <a:p>
            <a:pPr algn="l">
              <a:buNone/>
              <a:defRPr sz="1875" b="1">
                <a:solidFill>
                  <a:srgbClr val="FFFFFF"/>
                </a:solidFill>
                <a:latin typeface="Hanken Grotesk"/>
                <a:ea typeface="Hanken Grotesk"/>
                <a:cs typeface="Hanken Grotesk"/>
              </a:defRPr>
            </a:pPr>
            <a:r>
              <a:rPr sz="1875" b="1">
                <a:solidFill>
                  <a:srgbClr val="FFFFFF"/>
                </a:solidFill>
                <a:latin typeface="Hanken Grotesk"/>
                <a:ea typeface="Hanken Grotesk"/>
                <a:cs typeface="Hanken Grotesk"/>
              </a:rPr>
              <a:t>Diagnose</a:t>
            </a:r>
          </a:p>
        </p:txBody>
      </p:sp>
      <p:sp>
        <p:nvSpPr>
          <p:cNvPr id="10" name="dashboard-callout-body-2">
            <a:extLst>
              <a:ext uri="{FF2B5EF4-FFF2-40B4-BE49-F238E27FC236}">
                <a16:creationId xmlns:a16="http://schemas.microsoft.com/office/drawing/2014/main" id="{FED65522-91EA-49E8-A1A8-4FF5122DC4DD}"/>
              </a:ext>
            </a:extLst>
          </p:cNvPr>
          <p:cNvSpPr>
            <a:spLocks noGrp="1"/>
          </p:cNvSpPr>
          <p:nvPr/>
        </p:nvSpPr>
        <p:spPr>
          <a:xfrm>
            <a:off x="7810500" y="3886200"/>
            <a:ext cx="3619500" cy="685800"/>
          </a:xfrm>
          <a:prstGeom prst="rect">
            <a:avLst/>
          </a:prstGeom>
          <a:noFill/>
          <a:ln w="0">
            <a:noFill/>
            <a:prstDash val="solid"/>
          </a:ln>
        </p:spPr>
        <p:txBody>
          <a:bodyPr anchor="t">
            <a:normAutofit/>
          </a:bodyPr>
          <a:lstStyle/>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60% response rate and 13.74-hour average response time.</a:t>
            </a:r>
          </a:p>
        </p:txBody>
      </p:sp>
      <p:cxnSp>
        <p:nvCxnSpPr>
          <p:cNvPr id="72" name="dashboard-callout-rule-3"/>
          <p:cNvCxnSpPr/>
          <p:nvPr/>
        </p:nvCxnSpPr>
        <p:spPr>
          <a:xfrm>
            <a:off x="7810500" y="4762500"/>
            <a:ext cx="3619500" cy="0"/>
          </a:xfrm>
          <a:prstGeom prst="straightConnector1">
            <a:avLst/>
          </a:prstGeom>
          <a:ln w="38100">
            <a:solidFill>
              <a:srgbClr val="FF5A1F"/>
            </a:solidFill>
            <a:prstDash val="solid"/>
          </a:ln>
        </p:spPr>
      </p:cxnSp>
      <p:sp>
        <p:nvSpPr>
          <p:cNvPr id="12" name="dashboard-callout-title-3">
            <a:extLst>
              <a:ext uri="{FF2B5EF4-FFF2-40B4-BE49-F238E27FC236}">
                <a16:creationId xmlns:a16="http://schemas.microsoft.com/office/drawing/2014/main" id="{E34DC81B-18E1-4C3F-8302-34C5A952B50C}"/>
              </a:ext>
            </a:extLst>
          </p:cNvPr>
          <p:cNvSpPr>
            <a:spLocks noGrp="1"/>
          </p:cNvSpPr>
          <p:nvPr/>
        </p:nvSpPr>
        <p:spPr>
          <a:xfrm>
            <a:off x="7810500" y="4953000"/>
            <a:ext cx="3619500" cy="361950"/>
          </a:xfrm>
          <a:prstGeom prst="rect">
            <a:avLst/>
          </a:prstGeom>
          <a:noFill/>
          <a:ln w="0">
            <a:noFill/>
            <a:prstDash val="solid"/>
          </a:ln>
        </p:spPr>
        <p:txBody>
          <a:bodyPr anchor="t">
            <a:normAutofit fontScale="94667" lnSpcReduction="10000"/>
          </a:bodyPr>
          <a:lstStyle/>
          <a:p>
            <a:pPr algn="l">
              <a:buNone/>
              <a:defRPr sz="1875" b="1">
                <a:solidFill>
                  <a:srgbClr val="FFFFFF"/>
                </a:solidFill>
                <a:latin typeface="Hanken Grotesk"/>
                <a:ea typeface="Hanken Grotesk"/>
                <a:cs typeface="Hanken Grotesk"/>
              </a:defRPr>
            </a:pPr>
            <a:r>
              <a:rPr sz="1875" b="1">
                <a:solidFill>
                  <a:srgbClr val="FFFFFF"/>
                </a:solidFill>
                <a:latin typeface="Hanken Grotesk"/>
                <a:ea typeface="Hanken Grotesk"/>
                <a:cs typeface="Hanken Grotesk"/>
              </a:rPr>
              <a:t>Act</a:t>
            </a:r>
          </a:p>
        </p:txBody>
      </p:sp>
      <p:sp>
        <p:nvSpPr>
          <p:cNvPr id="13" name="dashboard-callout-body-3">
            <a:extLst>
              <a:ext uri="{FF2B5EF4-FFF2-40B4-BE49-F238E27FC236}">
                <a16:creationId xmlns:a16="http://schemas.microsoft.com/office/drawing/2014/main" id="{44BBB94F-F822-4AEE-AF77-9473BAD4FB6A}"/>
              </a:ext>
            </a:extLst>
          </p:cNvPr>
          <p:cNvSpPr>
            <a:spLocks noGrp="1"/>
          </p:cNvSpPr>
          <p:nvPr/>
        </p:nvSpPr>
        <p:spPr>
          <a:xfrm>
            <a:off x="7810500" y="5391150"/>
            <a:ext cx="3619500" cy="609600"/>
          </a:xfrm>
          <a:prstGeom prst="rect">
            <a:avLst/>
          </a:prstGeom>
          <a:noFill/>
          <a:ln w="0">
            <a:noFill/>
            <a:prstDash val="solid"/>
          </a:ln>
        </p:spPr>
        <p:txBody>
          <a:bodyPr anchor="t">
            <a:normAutofit/>
          </a:bodyPr>
          <a:lstStyle/>
          <a:p>
            <a:pPr algn="l">
              <a:lnSpc>
                <a:spcPct val="108000"/>
              </a:lnSpc>
              <a:buNone/>
              <a:defRPr sz="1500" b="0">
                <a:solidFill>
                  <a:srgbClr val="B4B4B4"/>
                </a:solidFill>
                <a:latin typeface="Hanken Grotesk"/>
                <a:ea typeface="Hanken Grotesk"/>
                <a:cs typeface="Hanken Grotesk"/>
              </a:defRPr>
            </a:pPr>
            <a:r>
              <a:rPr sz="1500" b="0">
                <a:solidFill>
                  <a:srgbClr val="B4B4B4"/>
                </a:solidFill>
                <a:latin typeface="Hanken Grotesk"/>
                <a:ea typeface="Hanken Grotesk"/>
                <a:cs typeface="Hanken Grotesk"/>
              </a:rPr>
              <a:t>Use the score to rank; use rate and time to explain why.</a:t>
            </a:r>
          </a:p>
        </p:txBody>
      </p:sp>
      <p:graphicFrame>
        <p:nvGraphicFramePr>
          <p:cNvPr id="75" name="Chart"/>
          <p:cNvGraphicFramePr/>
          <p:nvPr/>
        </p:nvGraphicFramePr>
        <p:xfrm>
          <a:off x="514350" y="1714500"/>
          <a:ext cx="6667500" cy="4095750"/>
        </p:xfrm>
        <a:graphic>
          <a:graphicData uri="http://schemas.openxmlformats.org/drawingml/2006/chart">
            <c:chart xmlns:c="http://schemas.openxmlformats.org/drawingml/2006/chart" xmlns:r="http://schemas.openxmlformats.org/officeDocument/2006/relationships" r:id="rId3"/>
          </a:graphicData>
        </a:graphic>
      </p:graphicFrame>
      <p:pic>
        <p:nvPicPr>
          <p:cNvPr id="76" name="Picture 51"/>
          <p:cNvPicPr>
            <a:picLocks noChangeAspect="1"/>
          </p:cNvPicPr>
          <p:nvPr/>
        </p:nvPicPr>
        <p:blipFill>
          <a:blip r:embed="rId4"/>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521210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16" name="slide-title-6">
            <a:extLst>
              <a:ext uri="{FF2B5EF4-FFF2-40B4-BE49-F238E27FC236}">
                <a16:creationId xmlns:a16="http://schemas.microsoft.com/office/drawing/2014/main" id="{F36E3649-E36D-452E-98ED-D4E179034F52}"/>
              </a:ext>
            </a:extLst>
          </p:cNvPr>
          <p:cNvSpPr>
            <a:spLocks noGrp="1"/>
          </p:cNvSpPr>
          <p:nvPr/>
        </p:nvSpPr>
        <p:spPr>
          <a:xfrm>
            <a:off x="533400" y="381000"/>
            <a:ext cx="11125200" cy="838200"/>
          </a:xfrm>
          <a:prstGeom prst="rect">
            <a:avLst/>
          </a:prstGeom>
          <a:noFill/>
          <a:ln w="0">
            <a:noFill/>
            <a:prstDash val="solid"/>
          </a:ln>
        </p:spPr>
        <p:txBody>
          <a:bodyPr anchor="t">
            <a:normAutofit/>
          </a:bodyPr>
          <a:lstStyle/>
          <a:p>
            <a:pPr>
              <a:buNone/>
              <a:defRPr sz="2625" b="1">
                <a:solidFill>
                  <a:srgbClr val="FFFFFF"/>
                </a:solidFill>
                <a:latin typeface="Hanken Grotesk"/>
                <a:ea typeface="Hanken Grotesk"/>
                <a:cs typeface="Hanken Grotesk"/>
              </a:defRPr>
            </a:pPr>
            <a:r>
              <a:rPr sz="2625"/>
              <a:t>Limitations and future improvements</a:t>
            </a:r>
          </a:p>
        </p:txBody>
      </p:sp>
      <p:cxnSp>
        <p:nvCxnSpPr>
          <p:cNvPr id="72" name="title-rule-6"/>
          <p:cNvCxnSpPr/>
          <p:nvPr/>
        </p:nvCxnSpPr>
        <p:spPr>
          <a:xfrm>
            <a:off x="533400" y="1285875"/>
            <a:ext cx="11125200" cy="0"/>
          </a:xfrm>
          <a:prstGeom prst="straightConnector1">
            <a:avLst/>
          </a:prstGeom>
          <a:ln w="9525">
            <a:solidFill>
              <a:srgbClr val="282828"/>
            </a:solidFill>
            <a:prstDash val="solid"/>
          </a:ln>
        </p:spPr>
      </p:cxnSp>
      <p:sp>
        <p:nvSpPr>
          <p:cNvPr id="3" name="footer-6">
            <a:extLst>
              <a:ext uri="{FF2B5EF4-FFF2-40B4-BE49-F238E27FC236}">
                <a16:creationId xmlns:a16="http://schemas.microsoft.com/office/drawing/2014/main" id="{E56C4CCD-1536-4611-85A0-6F20D321D938}"/>
              </a:ext>
            </a:extLst>
          </p:cNvPr>
          <p:cNvSpPr>
            <a:spLocks noGrp="1"/>
          </p:cNvSpPr>
          <p:nvPr/>
        </p:nvSpPr>
        <p:spPr>
          <a:xfrm>
            <a:off x="9353550" y="6286500"/>
            <a:ext cx="552450" cy="209550"/>
          </a:xfrm>
          <a:prstGeom prst="rect">
            <a:avLst/>
          </a:prstGeom>
          <a:noFill/>
          <a:ln w="0">
            <a:noFill/>
            <a:prstDash val="solid"/>
          </a:ln>
        </p:spPr>
        <p:txBody>
          <a:bodyPr anchor="ctr">
            <a:noAutofit/>
          </a:bodyPr>
          <a:lstStyle/>
          <a:p>
            <a:pPr algn="r">
              <a:buNone/>
              <a:defRPr sz="975" b="0">
                <a:solidFill>
                  <a:srgbClr val="B4B4B4"/>
                </a:solidFill>
                <a:latin typeface="Hanken Grotesk"/>
                <a:ea typeface="Hanken Grotesk"/>
                <a:cs typeface="Hanken Grotesk"/>
              </a:defRPr>
            </a:pPr>
            <a:r>
              <a:rPr sz="975" b="0">
                <a:solidFill>
                  <a:srgbClr val="B4B4B4"/>
                </a:solidFill>
                <a:latin typeface="Hanken Grotesk"/>
                <a:ea typeface="Hanken Grotesk"/>
                <a:cs typeface="Hanken Grotesk"/>
              </a:rPr>
              <a:t>7 / 7</a:t>
            </a:r>
          </a:p>
        </p:txBody>
      </p:sp>
      <p:cxnSp>
        <p:nvCxnSpPr>
          <p:cNvPr id="74" name="quadrant-rule-6a"/>
          <p:cNvCxnSpPr/>
          <p:nvPr/>
        </p:nvCxnSpPr>
        <p:spPr>
          <a:xfrm>
            <a:off x="609600" y="1790700"/>
            <a:ext cx="4953000" cy="0"/>
          </a:xfrm>
          <a:prstGeom prst="straightConnector1">
            <a:avLst/>
          </a:prstGeom>
          <a:ln w="38100">
            <a:solidFill>
              <a:srgbClr val="FF5A1F"/>
            </a:solidFill>
            <a:prstDash val="solid"/>
          </a:ln>
        </p:spPr>
      </p:cxnSp>
      <p:sp>
        <p:nvSpPr>
          <p:cNvPr id="5" name="quadrant-heading-6a">
            <a:extLst>
              <a:ext uri="{FF2B5EF4-FFF2-40B4-BE49-F238E27FC236}">
                <a16:creationId xmlns:a16="http://schemas.microsoft.com/office/drawing/2014/main" id="{C2806EE7-90A9-4249-8F1D-35610E11E687}"/>
              </a:ext>
            </a:extLst>
          </p:cNvPr>
          <p:cNvSpPr>
            <a:spLocks noGrp="1"/>
          </p:cNvSpPr>
          <p:nvPr/>
        </p:nvSpPr>
        <p:spPr>
          <a:xfrm>
            <a:off x="609600" y="1962150"/>
            <a:ext cx="4953000" cy="400050"/>
          </a:xfrm>
          <a:prstGeom prst="rect">
            <a:avLst/>
          </a:prstGeom>
          <a:noFill/>
          <a:ln w="0">
            <a:noFill/>
            <a:prstDash val="solid"/>
          </a:ln>
        </p:spPr>
        <p:txBody>
          <a:bodyPr anchor="t">
            <a:normAutofit/>
          </a:bodyPr>
          <a:lstStyle/>
          <a:p>
            <a:pPr>
              <a:buNone/>
              <a:defRPr sz="2025" b="1">
                <a:solidFill>
                  <a:srgbClr val="FFFFFF"/>
                </a:solidFill>
                <a:latin typeface="Hanken Grotesk"/>
                <a:ea typeface="Hanken Grotesk"/>
                <a:cs typeface="Hanken Grotesk"/>
              </a:defRPr>
            </a:pPr>
            <a:r>
              <a:rPr sz="2025" b="1"/>
              <a:t>Validate business assumptions</a:t>
            </a:r>
            <a:endParaRPr sz="2025" b="1">
              <a:solidFill>
                <a:srgbClr val="FFFFFF"/>
              </a:solidFill>
              <a:latin typeface="Hanken Grotesk"/>
              <a:ea typeface="Hanken Grotesk"/>
              <a:cs typeface="Hanken Grotesk"/>
            </a:endParaRPr>
          </a:p>
        </p:txBody>
      </p:sp>
      <p:sp>
        <p:nvSpPr>
          <p:cNvPr id="6" name="quadrant-body-6a">
            <a:extLst>
              <a:ext uri="{FF2B5EF4-FFF2-40B4-BE49-F238E27FC236}">
                <a16:creationId xmlns:a16="http://schemas.microsoft.com/office/drawing/2014/main" id="{8CB9A68E-88B0-4A2D-A8A1-FAEF14BD198E}"/>
              </a:ext>
            </a:extLst>
          </p:cNvPr>
          <p:cNvSpPr>
            <a:spLocks noGrp="1"/>
          </p:cNvSpPr>
          <p:nvPr/>
        </p:nvSpPr>
        <p:spPr>
          <a:xfrm>
            <a:off x="609600" y="2428875"/>
            <a:ext cx="4953000" cy="971550"/>
          </a:xfrm>
          <a:prstGeom prst="rect">
            <a:avLst/>
          </a:prstGeom>
          <a:noFill/>
          <a:ln w="0">
            <a:noFill/>
            <a:prstDash val="solid"/>
          </a:ln>
        </p:spPr>
        <p:txBody>
          <a:bodyPr anchor="t">
            <a:normAutofit/>
          </a:bodyPr>
          <a:lstStyle/>
          <a:p>
            <a:pPr>
              <a:lnSpc>
                <a:spcPct val="108000"/>
              </a:lnSpc>
              <a:buNone/>
              <a:defRPr sz="1575" b="0">
                <a:solidFill>
                  <a:srgbClr val="B4B4B4"/>
                </a:solidFill>
                <a:latin typeface="Hanken Grotesk"/>
                <a:ea typeface="Hanken Grotesk"/>
                <a:cs typeface="Hanken Grotesk"/>
              </a:defRPr>
            </a:pPr>
            <a:r>
              <a:rPr sz="1575"/>
              <a:t>Confirm the score weights, and the minimum requirement of 10 communications with stakeholders.</a:t>
            </a:r>
            <a:endParaRPr sz="1575" b="0">
              <a:solidFill>
                <a:srgbClr val="B4B4B4"/>
              </a:solidFill>
              <a:latin typeface="Hanken Grotesk"/>
              <a:ea typeface="Hanken Grotesk"/>
              <a:cs typeface="Hanken Grotesk"/>
            </a:endParaRPr>
          </a:p>
        </p:txBody>
      </p:sp>
      <p:cxnSp>
        <p:nvCxnSpPr>
          <p:cNvPr id="77" name="quadrant-rule-6b"/>
          <p:cNvCxnSpPr/>
          <p:nvPr/>
        </p:nvCxnSpPr>
        <p:spPr>
          <a:xfrm>
            <a:off x="6629400" y="1790700"/>
            <a:ext cx="4953000" cy="0"/>
          </a:xfrm>
          <a:prstGeom prst="straightConnector1">
            <a:avLst/>
          </a:prstGeom>
          <a:ln w="38100">
            <a:solidFill>
              <a:srgbClr val="FF5A1F"/>
            </a:solidFill>
            <a:prstDash val="solid"/>
          </a:ln>
        </p:spPr>
      </p:cxnSp>
      <p:sp>
        <p:nvSpPr>
          <p:cNvPr id="8" name="quadrant-heading-6b">
            <a:extLst>
              <a:ext uri="{FF2B5EF4-FFF2-40B4-BE49-F238E27FC236}">
                <a16:creationId xmlns:a16="http://schemas.microsoft.com/office/drawing/2014/main" id="{0C60F54B-D121-4BFA-A2E7-55D4182793CC}"/>
              </a:ext>
            </a:extLst>
          </p:cNvPr>
          <p:cNvSpPr>
            <a:spLocks noGrp="1"/>
          </p:cNvSpPr>
          <p:nvPr/>
        </p:nvSpPr>
        <p:spPr>
          <a:xfrm>
            <a:off x="6629400" y="19621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Extend channel coverage</a:t>
            </a:r>
          </a:p>
        </p:txBody>
      </p:sp>
      <p:sp>
        <p:nvSpPr>
          <p:cNvPr id="9" name="quadrant-body-6b">
            <a:extLst>
              <a:ext uri="{FF2B5EF4-FFF2-40B4-BE49-F238E27FC236}">
                <a16:creationId xmlns:a16="http://schemas.microsoft.com/office/drawing/2014/main" id="{D2265047-3774-4581-8186-F9AAE16B905F}"/>
              </a:ext>
            </a:extLst>
          </p:cNvPr>
          <p:cNvSpPr>
            <a:spLocks noGrp="1"/>
          </p:cNvSpPr>
          <p:nvPr/>
        </p:nvSpPr>
        <p:spPr>
          <a:xfrm>
            <a:off x="6629400" y="2428875"/>
            <a:ext cx="4953000" cy="971550"/>
          </a:xfrm>
          <a:prstGeom prst="rect">
            <a:avLst/>
          </a:prstGeom>
          <a:noFill/>
          <a:ln w="0">
            <a:noFill/>
            <a:prstDash val="solid"/>
          </a:ln>
        </p:spPr>
        <p:txBody>
          <a:bodyPr anchor="t">
            <a:normAutofit/>
          </a:bodyPr>
          <a:lstStyle/>
          <a:p>
            <a:pPr algn="l">
              <a:lnSpc>
                <a:spcPct val="108000"/>
              </a:lnSpc>
              <a:buNone/>
              <a:defRPr sz="1575" b="0">
                <a:solidFill>
                  <a:srgbClr val="B4B4B4"/>
                </a:solidFill>
                <a:latin typeface="Hanken Grotesk"/>
                <a:ea typeface="Hanken Grotesk"/>
                <a:cs typeface="Hanken Grotesk"/>
              </a:defRPr>
            </a:pPr>
            <a:r>
              <a:rPr sz="1575" b="0">
                <a:solidFill>
                  <a:srgbClr val="B4B4B4"/>
                </a:solidFill>
                <a:latin typeface="Hanken Grotesk"/>
                <a:ea typeface="Hanken Grotesk"/>
                <a:cs typeface="Hanken Grotesk"/>
              </a:rPr>
              <a:t>Email works today; SMS and chat require separate communication rules.</a:t>
            </a:r>
          </a:p>
        </p:txBody>
      </p:sp>
      <p:cxnSp>
        <p:nvCxnSpPr>
          <p:cNvPr id="80" name="quadrant-rule-6c"/>
          <p:cNvCxnSpPr/>
          <p:nvPr/>
        </p:nvCxnSpPr>
        <p:spPr>
          <a:xfrm>
            <a:off x="609600" y="4000500"/>
            <a:ext cx="4953000" cy="0"/>
          </a:xfrm>
          <a:prstGeom prst="straightConnector1">
            <a:avLst/>
          </a:prstGeom>
          <a:ln w="38100">
            <a:solidFill>
              <a:srgbClr val="FF5A1F"/>
            </a:solidFill>
            <a:prstDash val="solid"/>
          </a:ln>
        </p:spPr>
      </p:cxnSp>
      <p:sp>
        <p:nvSpPr>
          <p:cNvPr id="11" name="quadrant-heading-6c">
            <a:extLst>
              <a:ext uri="{FF2B5EF4-FFF2-40B4-BE49-F238E27FC236}">
                <a16:creationId xmlns:a16="http://schemas.microsoft.com/office/drawing/2014/main" id="{AF1190AC-00C4-49A7-B2BB-6D04DE9E0BEC}"/>
              </a:ext>
            </a:extLst>
          </p:cNvPr>
          <p:cNvSpPr>
            <a:spLocks noGrp="1"/>
          </p:cNvSpPr>
          <p:nvPr/>
        </p:nvSpPr>
        <p:spPr>
          <a:xfrm>
            <a:off x="609600" y="4171950"/>
            <a:ext cx="4953000" cy="400050"/>
          </a:xfrm>
          <a:prstGeom prst="rect">
            <a:avLst/>
          </a:prstGeom>
          <a:noFill/>
          <a:ln w="0">
            <a:noFill/>
            <a:prstDash val="solid"/>
          </a:ln>
        </p:spPr>
        <p:txBody>
          <a:bodyPr anchor="t">
            <a:normAutofit/>
          </a:bodyPr>
          <a:lstStyle/>
          <a:p>
            <a:pPr algn="l">
              <a:buNone/>
              <a:defRPr sz="2025" b="1">
                <a:solidFill>
                  <a:srgbClr val="FFFFFF"/>
                </a:solidFill>
                <a:latin typeface="Hanken Grotesk"/>
                <a:ea typeface="Hanken Grotesk"/>
                <a:cs typeface="Hanken Grotesk"/>
              </a:defRPr>
            </a:pPr>
            <a:r>
              <a:rPr sz="2025" b="1">
                <a:solidFill>
                  <a:srgbClr val="FFFFFF"/>
                </a:solidFill>
                <a:latin typeface="Hanken Grotesk"/>
                <a:ea typeface="Hanken Grotesk"/>
                <a:cs typeface="Hanken Grotesk"/>
              </a:rPr>
              <a:t>Automate operations</a:t>
            </a:r>
          </a:p>
        </p:txBody>
      </p:sp>
      <p:sp>
        <p:nvSpPr>
          <p:cNvPr id="12" name="quadrant-body-6c">
            <a:extLst>
              <a:ext uri="{FF2B5EF4-FFF2-40B4-BE49-F238E27FC236}">
                <a16:creationId xmlns:a16="http://schemas.microsoft.com/office/drawing/2014/main" id="{C45B6A4C-90F0-469A-B1CB-3C7629393D8F}"/>
              </a:ext>
            </a:extLst>
          </p:cNvPr>
          <p:cNvSpPr>
            <a:spLocks noGrp="1"/>
          </p:cNvSpPr>
          <p:nvPr/>
        </p:nvSpPr>
        <p:spPr>
          <a:xfrm>
            <a:off x="609600" y="4638675"/>
            <a:ext cx="4953000" cy="971550"/>
          </a:xfrm>
          <a:prstGeom prst="rect">
            <a:avLst/>
          </a:prstGeom>
          <a:noFill/>
          <a:ln w="0">
            <a:noFill/>
            <a:prstDash val="solid"/>
          </a:ln>
        </p:spPr>
        <p:txBody>
          <a:bodyPr anchor="t">
            <a:normAutofit/>
          </a:bodyPr>
          <a:lstStyle/>
          <a:p>
            <a:pPr algn="l">
              <a:lnSpc>
                <a:spcPct val="108000"/>
              </a:lnSpc>
              <a:buNone/>
              <a:defRPr sz="1575" b="0">
                <a:solidFill>
                  <a:srgbClr val="B4B4B4"/>
                </a:solidFill>
                <a:latin typeface="Hanken Grotesk"/>
                <a:ea typeface="Hanken Grotesk"/>
                <a:cs typeface="Hanken Grotesk"/>
              </a:defRPr>
            </a:pPr>
            <a:r>
              <a:rPr sz="1575" b="0">
                <a:solidFill>
                  <a:srgbClr val="B4B4B4"/>
                </a:solidFill>
                <a:latin typeface="Hanken Grotesk"/>
                <a:ea typeface="Hanken Grotesk"/>
                <a:cs typeface="Hanken Grotesk"/>
              </a:rPr>
              <a:t>Replace manual notebooks with orchestration, monitoring and end-to-end tests.</a:t>
            </a:r>
          </a:p>
        </p:txBody>
      </p:sp>
      <p:pic>
        <p:nvPicPr>
          <p:cNvPr id="86" name="Picture 57"/>
          <p:cNvPicPr>
            <a:picLocks noChangeAspect="1"/>
          </p:cNvPicPr>
          <p:nvPr/>
        </p:nvPicPr>
        <p:blipFill>
          <a:blip r:embed="rId3"/>
          <a:srcRect t="24466" b="24466"/>
          <a:stretch>
            <a:fillRect/>
          </a:stretch>
        </p:blipFill>
        <p:spPr>
          <a:xfrm>
            <a:off x="10020300" y="6153150"/>
            <a:ext cx="1638300" cy="438150"/>
          </a:xfrm>
          <a:prstGeom prst="roundRect">
            <a:avLst>
              <a:gd name="adj" fmla="val 50000"/>
            </a:avLst>
          </a:prstGeom>
        </p:spPr>
      </p:pic>
    </p:spTree>
    <p:extLst>
      <p:ext uri="{BB962C8B-B14F-4D97-AF65-F5344CB8AC3E}">
        <p14:creationId xmlns:p14="http://schemas.microsoft.com/office/powerpoint/2010/main" val="21181713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1708</Words>
  <Application>Microsoft Office PowerPoint</Application>
  <DocSecurity>0</DocSecurity>
  <PresentationFormat>Widescreen</PresentationFormat>
  <Paragraphs>133</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Calibri</vt:lpstr>
      <vt:lpstr>Hanken Grotesk</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Alexander Minagawa</cp:lastModifiedBy>
  <cp:revision>3</cp:revision>
  <dcterms:created xsi:type="dcterms:W3CDTF">2026-09-01T14:32:53Z</dcterms:created>
  <dcterms:modified xsi:type="dcterms:W3CDTF">2026-09-01T15:42:23Z</dcterms:modified>
</cp:coreProperties>
</file>